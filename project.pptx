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5" r:id="rId5"/>
    <p:sldId id="262" r:id="rId6"/>
    <p:sldId id="264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1" d="100"/>
          <a:sy n="61" d="100"/>
        </p:scale>
        <p:origin x="393" y="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9F67-E2E7-4B3D-99CD-3FD02CF29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CCCE3-1010-BC8C-3072-97D28BB07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DB34E-7FF9-4AFF-2C0C-3062BAD33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52A08-E002-A888-3F78-08868C3A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21565-85D0-161D-5679-C7C886EF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375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15F4-7FFC-6941-A4C7-6A52D54B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13650-A898-EDBA-3FBF-8DE00FA4C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9B414-C02B-E511-40DD-EAE8827FD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0EF33-02DC-4939-05DC-E3919597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48F8A-9998-BD82-EA16-6FA2205B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4300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19DA-E8E1-9054-F2F6-3208F04E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C3A9C-E305-42B3-A6F9-BBE6A0D67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46F42-C422-CFB7-F540-378F0AF2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29CC0-A068-CC43-7ADF-659C6DF86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48C12-2DC5-1C29-2A25-02FB754F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304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E1B1-E939-3826-9BD8-8CAC87CA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FE90E-8DE0-C7D5-4C1B-7F97CFFBD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AFFB0-679D-039D-A7BA-19BED4EED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A0F75-FBDA-4A20-29D6-9CEAAD83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A88C1-8779-A6A9-1047-764F63B4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41500-46A1-4FF0-1C96-32FC8F1DD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345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C0CF-063F-8453-ABA0-EA6D9E7E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1265E-D8DD-12D5-ABA3-755497637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02620-B462-E58B-CE08-62062CE81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A8BC3-0E50-2A95-FA10-DCC6FA648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724C0-3B03-9635-028A-6751C7DFDA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E48061-B1CE-BB56-1774-7FA6877B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31615-D8EB-0239-4D4E-F06D5CD0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58947-FD3E-D4D1-BC4F-2FCA1349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177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B989F-7378-5532-CAFF-31B4ABBD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D6E55-C5E1-7326-F3DE-6934B734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5BA77-E28E-6EE5-268E-09253A87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3B8D4-6D87-59F3-4D9B-E99E908F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231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65FF4E-C051-B742-B340-0E849E98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C96A55-D4A2-FE86-1BBE-F19B6E2D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AC13F-2BCB-54CB-2BAB-3711266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840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E161-F06F-1769-C032-35E164BDF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ECB37-EE86-2120-397A-6284C0D8C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6D02D-52F7-5969-7585-8E237EF37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E6FB-16BF-D935-201B-DB3DB257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69E8C-EF35-12C1-2786-2ED36B895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2D25E-75FE-F788-E2E7-D39560B04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374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03D07-884D-4161-EDC9-E39ACA1F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CDDC3C-B2A1-A6C7-2820-DD1FA9B19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A7C9C-1307-28F5-170F-048B66A70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C0428-26B7-B80E-3DC1-6980C5DE5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10FF2-AE4B-FE9D-360A-5BC02CA1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50420-AE49-DF4B-3812-35A714365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617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800B-3C9E-CED8-153F-EBE6A9D8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92707-8A1F-1716-6905-9EED2B6FA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E7FA2-624B-C562-CA34-C86C0D51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24B13-3F89-8720-B6C7-ECAF03C4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3435A-0ECA-D4BF-0DB8-D5AADE87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965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D3D801-750B-DED7-BF51-4D6CC83F2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4FAB8-9203-E4C4-A451-D1179C611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408A6-BA42-6FFE-1786-BB67F5381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8FEE-961D-6CA5-545B-BDD25DAF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27250-237E-0FE8-8443-06F9B91F7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14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7E434-2102-0BF0-3150-28BA44CB6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E0BE9-419B-4074-7416-3F32703ED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972D6-F504-7612-77F5-6B9CF7E99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5A9CC-028A-4668-9402-8AF1101129FF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5820C-2F62-BB5D-7752-848AE884C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AE1D1-FD92-73A3-DD02-26E1A83C8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F40B5-F0D0-4F17-84D3-3EA483FF7A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128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7E1B-F3D7-8324-C478-432377369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845" y="1956618"/>
            <a:ext cx="6440129" cy="1130557"/>
          </a:xfrm>
        </p:spPr>
        <p:txBody>
          <a:bodyPr>
            <a:normAutofit fontScale="90000"/>
          </a:bodyPr>
          <a:lstStyle/>
          <a:p>
            <a:r>
              <a:rPr lang="it-IT" dirty="0"/>
              <a:t>ADC </a:t>
            </a:r>
            <a:r>
              <a:rPr lang="it-IT" dirty="0" err="1"/>
              <a:t>Characterization</a:t>
            </a:r>
            <a:endParaRPr lang="it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660D9-F76E-8FC4-91AF-A5F5DE8CA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845" y="369790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it-IT" sz="1600" dirty="0"/>
              <a:t>Michela Conti</a:t>
            </a:r>
          </a:p>
          <a:p>
            <a:pPr algn="l"/>
            <a:r>
              <a:rPr lang="it-IT" sz="1600" dirty="0"/>
              <a:t>Maria Cristina Ragusa</a:t>
            </a:r>
          </a:p>
        </p:txBody>
      </p:sp>
    </p:spTree>
    <p:extLst>
      <p:ext uri="{BB962C8B-B14F-4D97-AF65-F5344CB8AC3E}">
        <p14:creationId xmlns:p14="http://schemas.microsoft.com/office/powerpoint/2010/main" val="3043255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ECB977A-0BFA-36F8-EBB4-1EA8A29A68AA}"/>
              </a:ext>
            </a:extLst>
          </p:cNvPr>
          <p:cNvGrpSpPr/>
          <p:nvPr/>
        </p:nvGrpSpPr>
        <p:grpSpPr>
          <a:xfrm>
            <a:off x="418661" y="2396777"/>
            <a:ext cx="1654538" cy="1437054"/>
            <a:chOff x="355356" y="2377105"/>
            <a:chExt cx="1654538" cy="143705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FA284A0-00F0-313F-3A53-2B525BBEA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356" y="2377105"/>
              <a:ext cx="1437054" cy="143705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5D7DF8-DE18-F0A4-E0C2-C97EDC145987}"/>
                </a:ext>
              </a:extLst>
            </p:cNvPr>
            <p:cNvSpPr txBox="1"/>
            <p:nvPr/>
          </p:nvSpPr>
          <p:spPr>
            <a:xfrm>
              <a:off x="1473181" y="2842889"/>
              <a:ext cx="5367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Dout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EAF533E-561B-B2A3-906D-00447FE96B73}"/>
                </a:ext>
              </a:extLst>
            </p:cNvPr>
            <p:cNvSpPr txBox="1"/>
            <p:nvPr/>
          </p:nvSpPr>
          <p:spPr>
            <a:xfrm>
              <a:off x="1338051" y="2419266"/>
              <a:ext cx="6271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SCLK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E632666-CC2A-4DB7-B5B1-67171D1C8DF0}"/>
                </a:ext>
              </a:extLst>
            </p:cNvPr>
            <p:cNvSpPr txBox="1"/>
            <p:nvPr/>
          </p:nvSpPr>
          <p:spPr>
            <a:xfrm>
              <a:off x="384807" y="2429452"/>
              <a:ext cx="9296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CONVST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82D419-F249-5778-33F8-4DDFCA04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Project flowchart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6818B6-2BCB-AC46-441B-78E8BAE8CB2D}"/>
              </a:ext>
            </a:extLst>
          </p:cNvPr>
          <p:cNvGrpSpPr/>
          <p:nvPr/>
        </p:nvGrpSpPr>
        <p:grpSpPr>
          <a:xfrm>
            <a:off x="2122257" y="2323628"/>
            <a:ext cx="2022879" cy="1735016"/>
            <a:chOff x="4071814" y="2915138"/>
            <a:chExt cx="2022879" cy="173501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B0DF915-CF20-EA21-B489-CDBD453F0636}"/>
                </a:ext>
              </a:extLst>
            </p:cNvPr>
            <p:cNvSpPr/>
            <p:nvPr/>
          </p:nvSpPr>
          <p:spPr>
            <a:xfrm>
              <a:off x="4071815" y="2915138"/>
              <a:ext cx="1953847" cy="1735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A519E4-920B-3B4C-5381-3E80DBD5DDC5}"/>
                </a:ext>
              </a:extLst>
            </p:cNvPr>
            <p:cNvSpPr txBox="1"/>
            <p:nvPr/>
          </p:nvSpPr>
          <p:spPr>
            <a:xfrm>
              <a:off x="4095372" y="2927125"/>
              <a:ext cx="1911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SPI_master_AD7810</a:t>
              </a:r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1EEA4B9-C80C-AD1A-303C-D6F42D372D71}"/>
                </a:ext>
              </a:extLst>
            </p:cNvPr>
            <p:cNvSpPr/>
            <p:nvPr/>
          </p:nvSpPr>
          <p:spPr>
            <a:xfrm rot="5400000">
              <a:off x="4045487" y="4258990"/>
              <a:ext cx="275670" cy="22301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ADF475-9B62-671B-C657-6E702D5AD3DC}"/>
                </a:ext>
              </a:extLst>
            </p:cNvPr>
            <p:cNvSpPr txBox="1"/>
            <p:nvPr/>
          </p:nvSpPr>
          <p:spPr>
            <a:xfrm>
              <a:off x="4276697" y="4231334"/>
              <a:ext cx="401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CA7811-EE49-C2FD-5AC5-D25736AE59F8}"/>
                </a:ext>
              </a:extLst>
            </p:cNvPr>
            <p:cNvSpPr txBox="1"/>
            <p:nvPr/>
          </p:nvSpPr>
          <p:spPr>
            <a:xfrm>
              <a:off x="4071814" y="3548078"/>
              <a:ext cx="5830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MISO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083CB10-B1EF-19DD-7414-2172ECB9E775}"/>
                </a:ext>
              </a:extLst>
            </p:cNvPr>
            <p:cNvSpPr txBox="1"/>
            <p:nvPr/>
          </p:nvSpPr>
          <p:spPr>
            <a:xfrm>
              <a:off x="5178134" y="3369839"/>
              <a:ext cx="9165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sclk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ss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D_en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ADC_dout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2081FE-AC96-BC33-CD9D-B6A98F0132EC}"/>
              </a:ext>
            </a:extLst>
          </p:cNvPr>
          <p:cNvGrpSpPr/>
          <p:nvPr/>
        </p:nvGrpSpPr>
        <p:grpSpPr>
          <a:xfrm>
            <a:off x="4580749" y="2335615"/>
            <a:ext cx="2213714" cy="1735016"/>
            <a:chOff x="4071814" y="2915138"/>
            <a:chExt cx="2213714" cy="173501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09E34E0-3DA9-BEE9-3273-87238E7EB64F}"/>
                </a:ext>
              </a:extLst>
            </p:cNvPr>
            <p:cNvSpPr/>
            <p:nvPr/>
          </p:nvSpPr>
          <p:spPr>
            <a:xfrm>
              <a:off x="4071815" y="2915138"/>
              <a:ext cx="1953847" cy="1735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0056FF-BF74-649B-8ECF-9513EADB9078}"/>
                </a:ext>
              </a:extLst>
            </p:cNvPr>
            <p:cNvSpPr txBox="1"/>
            <p:nvPr/>
          </p:nvSpPr>
          <p:spPr>
            <a:xfrm>
              <a:off x="4095372" y="2927125"/>
              <a:ext cx="1911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FIFOwidth10_depth?</a:t>
              </a:r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F68C870B-0607-2BB2-FACD-DE63C9AFD38A}"/>
                </a:ext>
              </a:extLst>
            </p:cNvPr>
            <p:cNvSpPr/>
            <p:nvPr/>
          </p:nvSpPr>
          <p:spPr>
            <a:xfrm rot="5400000">
              <a:off x="4045487" y="4258990"/>
              <a:ext cx="275670" cy="22301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96A81F5-9E86-9B2C-93E7-06E980C40A6A}"/>
                </a:ext>
              </a:extLst>
            </p:cNvPr>
            <p:cNvSpPr txBox="1"/>
            <p:nvPr/>
          </p:nvSpPr>
          <p:spPr>
            <a:xfrm>
              <a:off x="4276697" y="4231334"/>
              <a:ext cx="401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5D0EFA-50D7-5083-C3A9-C349660115D9}"/>
                </a:ext>
              </a:extLst>
            </p:cNvPr>
            <p:cNvSpPr txBox="1"/>
            <p:nvPr/>
          </p:nvSpPr>
          <p:spPr>
            <a:xfrm>
              <a:off x="4086436" y="3699411"/>
              <a:ext cx="8400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wr_en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w_data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AB6D6EE-7965-280C-B5A9-823B4DF8956C}"/>
                </a:ext>
              </a:extLst>
            </p:cNvPr>
            <p:cNvSpPr txBox="1"/>
            <p:nvPr/>
          </p:nvSpPr>
          <p:spPr>
            <a:xfrm>
              <a:off x="5368969" y="3369839"/>
              <a:ext cx="9165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r_data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rd_en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full</a:t>
              </a: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empty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C2C92C1-33CE-D531-2D52-53CCBA7FC838}"/>
              </a:ext>
            </a:extLst>
          </p:cNvPr>
          <p:cNvCxnSpPr>
            <a:cxnSpLocks/>
          </p:cNvCxnSpPr>
          <p:nvPr/>
        </p:nvCxnSpPr>
        <p:spPr>
          <a:xfrm>
            <a:off x="4076105" y="3275936"/>
            <a:ext cx="50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1B0094B-C6A5-E1C9-DDBC-85615A217955}"/>
              </a:ext>
            </a:extLst>
          </p:cNvPr>
          <p:cNvCxnSpPr>
            <a:cxnSpLocks/>
          </p:cNvCxnSpPr>
          <p:nvPr/>
        </p:nvCxnSpPr>
        <p:spPr>
          <a:xfrm>
            <a:off x="4076105" y="3464118"/>
            <a:ext cx="50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B386410-07CC-B335-B920-1681EBC0A34F}"/>
              </a:ext>
            </a:extLst>
          </p:cNvPr>
          <p:cNvCxnSpPr>
            <a:cxnSpLocks/>
          </p:cNvCxnSpPr>
          <p:nvPr/>
        </p:nvCxnSpPr>
        <p:spPr>
          <a:xfrm flipV="1">
            <a:off x="4267112" y="3402496"/>
            <a:ext cx="95508" cy="1232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8EC0E9A-EF7B-1A01-A7DB-65B009114524}"/>
              </a:ext>
            </a:extLst>
          </p:cNvPr>
          <p:cNvSpPr txBox="1"/>
          <p:nvPr/>
        </p:nvSpPr>
        <p:spPr>
          <a:xfrm>
            <a:off x="4090726" y="3450748"/>
            <a:ext cx="457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Helvetica" panose="020B0604020202020204" pitchFamily="34" charset="0"/>
                <a:cs typeface="Helvetica" panose="020B0604020202020204" pitchFamily="34" charset="0"/>
              </a:rPr>
              <a:t>[9:0]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F8B9A9-7197-57E3-FAB7-64A05AC34298}"/>
              </a:ext>
            </a:extLst>
          </p:cNvPr>
          <p:cNvCxnSpPr>
            <a:cxnSpLocks/>
            <a:stCxn id="46" idx="2"/>
          </p:cNvCxnSpPr>
          <p:nvPr/>
        </p:nvCxnSpPr>
        <p:spPr>
          <a:xfrm flipV="1">
            <a:off x="1804843" y="3098560"/>
            <a:ext cx="332285" cy="4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6CF8C2B-0C73-0313-ED62-AAA49C1E5A71}"/>
              </a:ext>
            </a:extLst>
          </p:cNvPr>
          <p:cNvGrpSpPr/>
          <p:nvPr/>
        </p:nvGrpSpPr>
        <p:grpSpPr>
          <a:xfrm>
            <a:off x="1431293" y="2111073"/>
            <a:ext cx="2918416" cy="815009"/>
            <a:chOff x="1729409" y="2111071"/>
            <a:chExt cx="3776211" cy="724657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3A19E2B-4998-A66F-0201-5F9D98BBCC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6187" y="2826407"/>
              <a:ext cx="359433" cy="93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B0F05E0-35D3-E41D-1C66-7D7E5B0747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9603" y="2111071"/>
              <a:ext cx="1" cy="7153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37EB8E8-F159-501D-C065-3BAC5F218FB2}"/>
                </a:ext>
              </a:extLst>
            </p:cNvPr>
            <p:cNvCxnSpPr>
              <a:cxnSpLocks/>
            </p:cNvCxnSpPr>
            <p:nvPr/>
          </p:nvCxnSpPr>
          <p:spPr>
            <a:xfrm>
              <a:off x="1729409" y="2114310"/>
              <a:ext cx="37762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E77F8E6-EC68-A3DB-4C96-B55A53AA3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9409" y="2111071"/>
              <a:ext cx="0" cy="5378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E094A37-B957-1F14-6B31-0E28D6999F65}"/>
              </a:ext>
            </a:extLst>
          </p:cNvPr>
          <p:cNvGrpSpPr/>
          <p:nvPr/>
        </p:nvGrpSpPr>
        <p:grpSpPr>
          <a:xfrm>
            <a:off x="1266979" y="1953483"/>
            <a:ext cx="3281388" cy="1152830"/>
            <a:chOff x="1729409" y="2111071"/>
            <a:chExt cx="3776211" cy="815009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AFB8A02-55D5-3D27-D914-546EF675E756}"/>
                </a:ext>
              </a:extLst>
            </p:cNvPr>
            <p:cNvCxnSpPr>
              <a:cxnSpLocks/>
            </p:cNvCxnSpPr>
            <p:nvPr/>
          </p:nvCxnSpPr>
          <p:spPr>
            <a:xfrm>
              <a:off x="4962142" y="2911169"/>
              <a:ext cx="508963" cy="149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C0AF78C-ACE9-53E8-78ED-5F5ABB0D48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1105" y="2111071"/>
              <a:ext cx="18499" cy="8150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87F23E7-6A67-BB28-8ADD-9888A66EED30}"/>
                </a:ext>
              </a:extLst>
            </p:cNvPr>
            <p:cNvCxnSpPr>
              <a:cxnSpLocks/>
            </p:cNvCxnSpPr>
            <p:nvPr/>
          </p:nvCxnSpPr>
          <p:spPr>
            <a:xfrm>
              <a:off x="1729409" y="2114310"/>
              <a:ext cx="37762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BC4EC15-88D8-30E6-24DA-A8138AE662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9409" y="2111071"/>
              <a:ext cx="0" cy="5323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B749F0D-D800-6C34-5D9E-A05F47EE76FD}"/>
              </a:ext>
            </a:extLst>
          </p:cNvPr>
          <p:cNvGrpSpPr/>
          <p:nvPr/>
        </p:nvGrpSpPr>
        <p:grpSpPr>
          <a:xfrm>
            <a:off x="6860868" y="2323628"/>
            <a:ext cx="2444903" cy="1735016"/>
            <a:chOff x="4071814" y="2915138"/>
            <a:chExt cx="2444903" cy="1735016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4DC486A-7B24-3F90-1167-B5ED375C50FF}"/>
                </a:ext>
              </a:extLst>
            </p:cNvPr>
            <p:cNvSpPr/>
            <p:nvPr/>
          </p:nvSpPr>
          <p:spPr>
            <a:xfrm>
              <a:off x="4071814" y="2915138"/>
              <a:ext cx="2254059" cy="1735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C9671B2-57DF-28CE-ABBA-DEB0CC5C4476}"/>
                </a:ext>
              </a:extLst>
            </p:cNvPr>
            <p:cNvSpPr txBox="1"/>
            <p:nvPr/>
          </p:nvSpPr>
          <p:spPr>
            <a:xfrm>
              <a:off x="4378642" y="2920241"/>
              <a:ext cx="1324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Histogrammer</a:t>
              </a:r>
              <a:endParaRPr lang="it-IT" sz="14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E0EBD148-4CF6-5E26-750C-0EFD3F00527B}"/>
                </a:ext>
              </a:extLst>
            </p:cNvPr>
            <p:cNvSpPr/>
            <p:nvPr/>
          </p:nvSpPr>
          <p:spPr>
            <a:xfrm rot="5400000">
              <a:off x="4045487" y="4258990"/>
              <a:ext cx="275670" cy="22301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4459AC7-B7EF-723F-2E88-63ACDB7EC892}"/>
                </a:ext>
              </a:extLst>
            </p:cNvPr>
            <p:cNvSpPr txBox="1"/>
            <p:nvPr/>
          </p:nvSpPr>
          <p:spPr>
            <a:xfrm>
              <a:off x="4276697" y="4231334"/>
              <a:ext cx="401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FC6507F-1FA9-855E-3A9A-2A0F338C85C3}"/>
                </a:ext>
              </a:extLst>
            </p:cNvPr>
            <p:cNvSpPr txBox="1"/>
            <p:nvPr/>
          </p:nvSpPr>
          <p:spPr>
            <a:xfrm>
              <a:off x="4086436" y="3377382"/>
              <a:ext cx="12919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ram_adr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rd_en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ram_data_out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AA88BB8-E51D-4CCB-9ACC-118073331C6E}"/>
                </a:ext>
              </a:extLst>
            </p:cNvPr>
            <p:cNvSpPr txBox="1"/>
            <p:nvPr/>
          </p:nvSpPr>
          <p:spPr>
            <a:xfrm>
              <a:off x="5297415" y="3254425"/>
              <a:ext cx="12193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ram_wr_en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ram_adr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ram_data_in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ACBD96C-32DD-F2A3-2FCD-9338B6DC678A}"/>
              </a:ext>
            </a:extLst>
          </p:cNvPr>
          <p:cNvGrpSpPr/>
          <p:nvPr/>
        </p:nvGrpSpPr>
        <p:grpSpPr>
          <a:xfrm>
            <a:off x="9661220" y="2323628"/>
            <a:ext cx="2082668" cy="1735016"/>
            <a:chOff x="4071814" y="2915138"/>
            <a:chExt cx="2082668" cy="173501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02910F-7829-95EE-D148-716A3D387B76}"/>
                </a:ext>
              </a:extLst>
            </p:cNvPr>
            <p:cNvSpPr/>
            <p:nvPr/>
          </p:nvSpPr>
          <p:spPr>
            <a:xfrm>
              <a:off x="4071815" y="2915138"/>
              <a:ext cx="1953847" cy="1735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86400D3-4F2F-F944-1128-4A8391FFB960}"/>
                </a:ext>
              </a:extLst>
            </p:cNvPr>
            <p:cNvSpPr txBox="1"/>
            <p:nvPr/>
          </p:nvSpPr>
          <p:spPr>
            <a:xfrm>
              <a:off x="4518452" y="2927125"/>
              <a:ext cx="1167711" cy="319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RAM_count</a:t>
              </a:r>
              <a:endParaRPr lang="it-IT" sz="14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7" name="Isosceles Triangle 76">
              <a:extLst>
                <a:ext uri="{FF2B5EF4-FFF2-40B4-BE49-F238E27FC236}">
                  <a16:creationId xmlns:a16="http://schemas.microsoft.com/office/drawing/2014/main" id="{3A93A184-3B0A-559F-7162-90177768431A}"/>
                </a:ext>
              </a:extLst>
            </p:cNvPr>
            <p:cNvSpPr/>
            <p:nvPr/>
          </p:nvSpPr>
          <p:spPr>
            <a:xfrm rot="5400000">
              <a:off x="4045487" y="4258990"/>
              <a:ext cx="275670" cy="22301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C0CBDBC-F89E-FA5C-2BDF-951A0C43C94E}"/>
                </a:ext>
              </a:extLst>
            </p:cNvPr>
            <p:cNvSpPr txBox="1"/>
            <p:nvPr/>
          </p:nvSpPr>
          <p:spPr>
            <a:xfrm>
              <a:off x="4276697" y="4231334"/>
              <a:ext cx="401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CE8083C-E031-54E1-3E65-EB30BB945C8C}"/>
                </a:ext>
              </a:extLst>
            </p:cNvPr>
            <p:cNvSpPr txBox="1"/>
            <p:nvPr/>
          </p:nvSpPr>
          <p:spPr>
            <a:xfrm>
              <a:off x="4086436" y="3249031"/>
              <a:ext cx="84005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wr_en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w_adr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data_in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r_adr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E77F05A-A2DD-B997-0535-CCF2D9D412BD}"/>
                </a:ext>
              </a:extLst>
            </p:cNvPr>
            <p:cNvSpPr txBox="1"/>
            <p:nvPr/>
          </p:nvSpPr>
          <p:spPr>
            <a:xfrm>
              <a:off x="4797669" y="3433697"/>
              <a:ext cx="135681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hist_data_out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UART_data_out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D48D392-EBBD-B4F7-0AF4-8C6BFF9EC169}"/>
              </a:ext>
            </a:extLst>
          </p:cNvPr>
          <p:cNvCxnSpPr>
            <a:cxnSpLocks/>
          </p:cNvCxnSpPr>
          <p:nvPr/>
        </p:nvCxnSpPr>
        <p:spPr>
          <a:xfrm>
            <a:off x="6542463" y="2956568"/>
            <a:ext cx="3037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3E7337C-09B5-A191-BA2E-A9385CED4713}"/>
              </a:ext>
            </a:extLst>
          </p:cNvPr>
          <p:cNvCxnSpPr>
            <a:cxnSpLocks/>
          </p:cNvCxnSpPr>
          <p:nvPr/>
        </p:nvCxnSpPr>
        <p:spPr>
          <a:xfrm>
            <a:off x="6542463" y="3119331"/>
            <a:ext cx="3037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EFA3B80-34B8-BB18-2053-B1A5890C3DB8}"/>
              </a:ext>
            </a:extLst>
          </p:cNvPr>
          <p:cNvCxnSpPr>
            <a:cxnSpLocks/>
          </p:cNvCxnSpPr>
          <p:nvPr/>
        </p:nvCxnSpPr>
        <p:spPr>
          <a:xfrm>
            <a:off x="6694325" y="3275936"/>
            <a:ext cx="166543" cy="16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24C2AF0A-91FC-BD4F-559A-09529E48DE2B}"/>
              </a:ext>
            </a:extLst>
          </p:cNvPr>
          <p:cNvCxnSpPr>
            <a:cxnSpLocks/>
          </p:cNvCxnSpPr>
          <p:nvPr/>
        </p:nvCxnSpPr>
        <p:spPr>
          <a:xfrm flipV="1">
            <a:off x="6694325" y="3275936"/>
            <a:ext cx="0" cy="9393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DAFD5B3-7632-5CAF-E17F-DEC600C6A510}"/>
              </a:ext>
            </a:extLst>
          </p:cNvPr>
          <p:cNvCxnSpPr>
            <a:cxnSpLocks/>
          </p:cNvCxnSpPr>
          <p:nvPr/>
        </p:nvCxnSpPr>
        <p:spPr>
          <a:xfrm flipH="1">
            <a:off x="6694325" y="4189498"/>
            <a:ext cx="51627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430BF94-D25C-440B-BED9-B5583CB0914F}"/>
              </a:ext>
            </a:extLst>
          </p:cNvPr>
          <p:cNvCxnSpPr>
            <a:cxnSpLocks/>
          </p:cNvCxnSpPr>
          <p:nvPr/>
        </p:nvCxnSpPr>
        <p:spPr>
          <a:xfrm flipV="1">
            <a:off x="11857055" y="2956568"/>
            <a:ext cx="0" cy="1240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B3A0D3D-DC3E-C305-B479-F20032610DB6}"/>
              </a:ext>
            </a:extLst>
          </p:cNvPr>
          <p:cNvCxnSpPr>
            <a:cxnSpLocks/>
          </p:cNvCxnSpPr>
          <p:nvPr/>
        </p:nvCxnSpPr>
        <p:spPr>
          <a:xfrm>
            <a:off x="11615068" y="2985467"/>
            <a:ext cx="2419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B169517-B490-88EE-B77B-A38811F31D28}"/>
              </a:ext>
            </a:extLst>
          </p:cNvPr>
          <p:cNvGrpSpPr/>
          <p:nvPr/>
        </p:nvGrpSpPr>
        <p:grpSpPr>
          <a:xfrm>
            <a:off x="7751282" y="4290917"/>
            <a:ext cx="4229641" cy="2474698"/>
            <a:chOff x="8781275" y="4433137"/>
            <a:chExt cx="2411733" cy="2072397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BFB7390-F2CE-CE5B-A1B7-912C624B1D4C}"/>
                </a:ext>
              </a:extLst>
            </p:cNvPr>
            <p:cNvSpPr/>
            <p:nvPr/>
          </p:nvSpPr>
          <p:spPr>
            <a:xfrm>
              <a:off x="8781276" y="4433137"/>
              <a:ext cx="2411732" cy="20723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05651FB-E838-A9CB-82CD-6ABE8B72BBFC}"/>
                </a:ext>
              </a:extLst>
            </p:cNvPr>
            <p:cNvSpPr txBox="1"/>
            <p:nvPr/>
          </p:nvSpPr>
          <p:spPr>
            <a:xfrm>
              <a:off x="9959085" y="4441935"/>
              <a:ext cx="889648" cy="381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UART</a:t>
              </a:r>
            </a:p>
          </p:txBody>
        </p:sp>
        <p:sp>
          <p:nvSpPr>
            <p:cNvPr id="128" name="Isosceles Triangle 127">
              <a:extLst>
                <a:ext uri="{FF2B5EF4-FFF2-40B4-BE49-F238E27FC236}">
                  <a16:creationId xmlns:a16="http://schemas.microsoft.com/office/drawing/2014/main" id="{D92054D9-1D23-8642-90A3-CE8875D06C31}"/>
                </a:ext>
              </a:extLst>
            </p:cNvPr>
            <p:cNvSpPr/>
            <p:nvPr/>
          </p:nvSpPr>
          <p:spPr>
            <a:xfrm rot="5400000">
              <a:off x="8754277" y="6033858"/>
              <a:ext cx="329275" cy="275280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64B1FCE-1BF7-1C19-4986-F28927135A72}"/>
                </a:ext>
              </a:extLst>
            </p:cNvPr>
            <p:cNvSpPr txBox="1"/>
            <p:nvPr/>
          </p:nvSpPr>
          <p:spPr>
            <a:xfrm>
              <a:off x="9034172" y="6005273"/>
              <a:ext cx="495081" cy="330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01ECD3DF-9626-4284-ECD1-C8F7F1D1068F}"/>
              </a:ext>
            </a:extLst>
          </p:cNvPr>
          <p:cNvSpPr txBox="1"/>
          <p:nvPr/>
        </p:nvSpPr>
        <p:spPr>
          <a:xfrm>
            <a:off x="7750818" y="4755299"/>
            <a:ext cx="1810432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uart_rx</a:t>
            </a:r>
            <a:endParaRPr lang="it-IT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riceve comandi dal pc:</a:t>
            </a:r>
          </a:p>
          <a:p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S = </a:t>
            </a:r>
            <a:r>
              <a:rPr lang="it-IT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send</a:t>
            </a:r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</a:p>
          <a:p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R = reset </a:t>
            </a:r>
            <a:r>
              <a:rPr lang="it-IT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count</a:t>
            </a:r>
            <a:endParaRPr lang="it-IT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6F55F0B-4E3B-12F4-522E-FB92EA29143D}"/>
              </a:ext>
            </a:extLst>
          </p:cNvPr>
          <p:cNvSpPr txBox="1"/>
          <p:nvPr/>
        </p:nvSpPr>
        <p:spPr>
          <a:xfrm>
            <a:off x="9770479" y="4848131"/>
            <a:ext cx="219617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TX</a:t>
            </a:r>
          </a:p>
          <a:p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invia dati della RAM al pc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01FCE01-D771-E2BB-2CD5-90F87721B897}"/>
              </a:ext>
            </a:extLst>
          </p:cNvPr>
          <p:cNvSpPr txBox="1"/>
          <p:nvPr/>
        </p:nvSpPr>
        <p:spPr>
          <a:xfrm>
            <a:off x="9884236" y="2092311"/>
            <a:ext cx="2569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Helvetica" panose="020B0604020202020204" pitchFamily="34" charset="0"/>
                <a:cs typeface="Helvetica" panose="020B0604020202020204" pitchFamily="34" charset="0"/>
              </a:rPr>
              <a:t>dual-port RAM 1024x32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3CEF6B7-E8A8-60F0-46D0-B35147F5B66B}"/>
              </a:ext>
            </a:extLst>
          </p:cNvPr>
          <p:cNvGrpSpPr/>
          <p:nvPr/>
        </p:nvGrpSpPr>
        <p:grpSpPr>
          <a:xfrm>
            <a:off x="6479701" y="2884207"/>
            <a:ext cx="457641" cy="309862"/>
            <a:chOff x="4977783" y="4850874"/>
            <a:chExt cx="457641" cy="309862"/>
          </a:xfrm>
        </p:grpSpPr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0F745FB4-518F-B74C-A961-D4DFC80399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4169" y="4850874"/>
              <a:ext cx="95508" cy="1232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C190030A-3D59-3620-681E-2584709D52F1}"/>
                </a:ext>
              </a:extLst>
            </p:cNvPr>
            <p:cNvSpPr txBox="1"/>
            <p:nvPr/>
          </p:nvSpPr>
          <p:spPr>
            <a:xfrm>
              <a:off x="4977783" y="4899126"/>
              <a:ext cx="45764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100" dirty="0">
                  <a:latin typeface="Helvetica" panose="020B0604020202020204" pitchFamily="34" charset="0"/>
                  <a:cs typeface="Helvetica" panose="020B0604020202020204" pitchFamily="34" charset="0"/>
                </a:rPr>
                <a:t>[9:0]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5954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CAE3-4EEE-9E3A-C7E2-B61AAC0C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SPI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09DBFB-E338-B16C-2603-1F7E0CBDD812}"/>
              </a:ext>
            </a:extLst>
          </p:cNvPr>
          <p:cNvGrpSpPr/>
          <p:nvPr/>
        </p:nvGrpSpPr>
        <p:grpSpPr>
          <a:xfrm>
            <a:off x="418661" y="2396777"/>
            <a:ext cx="1654538" cy="1437054"/>
            <a:chOff x="355356" y="2377105"/>
            <a:chExt cx="1654538" cy="143705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B54B8A-E4EC-5109-7F44-94418996A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356" y="2377105"/>
              <a:ext cx="1437054" cy="14370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C7FD26-61F5-572B-C8BF-8AA8B50DE749}"/>
                </a:ext>
              </a:extLst>
            </p:cNvPr>
            <p:cNvSpPr txBox="1"/>
            <p:nvPr/>
          </p:nvSpPr>
          <p:spPr>
            <a:xfrm>
              <a:off x="1473181" y="2842889"/>
              <a:ext cx="5367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Dout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329C5F-03C2-D8F1-F280-3DF5F898F7D0}"/>
                </a:ext>
              </a:extLst>
            </p:cNvPr>
            <p:cNvSpPr txBox="1"/>
            <p:nvPr/>
          </p:nvSpPr>
          <p:spPr>
            <a:xfrm>
              <a:off x="1338051" y="2419266"/>
              <a:ext cx="6271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SCLK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A638D4-7CF2-073B-00B9-7111E62768C4}"/>
                </a:ext>
              </a:extLst>
            </p:cNvPr>
            <p:cNvSpPr txBox="1"/>
            <p:nvPr/>
          </p:nvSpPr>
          <p:spPr>
            <a:xfrm>
              <a:off x="384807" y="2429452"/>
              <a:ext cx="9296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CONVST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4EF3186-411C-BC4E-E19D-D1985307804E}"/>
              </a:ext>
            </a:extLst>
          </p:cNvPr>
          <p:cNvGrpSpPr/>
          <p:nvPr/>
        </p:nvGrpSpPr>
        <p:grpSpPr>
          <a:xfrm>
            <a:off x="2122257" y="2323628"/>
            <a:ext cx="2022879" cy="1735016"/>
            <a:chOff x="4071814" y="2915138"/>
            <a:chExt cx="2022879" cy="173501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3969901-4174-9FE8-1EE6-A7161082B302}"/>
                </a:ext>
              </a:extLst>
            </p:cNvPr>
            <p:cNvSpPr/>
            <p:nvPr/>
          </p:nvSpPr>
          <p:spPr>
            <a:xfrm>
              <a:off x="4071815" y="2915138"/>
              <a:ext cx="1953847" cy="1735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C37F64-396A-8AD1-2A8D-7B2CEC948EF8}"/>
                </a:ext>
              </a:extLst>
            </p:cNvPr>
            <p:cNvSpPr txBox="1"/>
            <p:nvPr/>
          </p:nvSpPr>
          <p:spPr>
            <a:xfrm>
              <a:off x="4095372" y="2927125"/>
              <a:ext cx="1911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SPI_master_AD7810</a:t>
              </a: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93B3740-8A1C-C220-9CFC-F05CCBDB2081}"/>
                </a:ext>
              </a:extLst>
            </p:cNvPr>
            <p:cNvSpPr/>
            <p:nvPr/>
          </p:nvSpPr>
          <p:spPr>
            <a:xfrm rot="5400000">
              <a:off x="4045487" y="4258990"/>
              <a:ext cx="275670" cy="22301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8EC2EFA-D1D4-CA75-FCAD-A18F252C39DC}"/>
                </a:ext>
              </a:extLst>
            </p:cNvPr>
            <p:cNvSpPr txBox="1"/>
            <p:nvPr/>
          </p:nvSpPr>
          <p:spPr>
            <a:xfrm>
              <a:off x="4276697" y="4231334"/>
              <a:ext cx="401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9F53AA-E051-A99B-2481-63B05C667A2A}"/>
                </a:ext>
              </a:extLst>
            </p:cNvPr>
            <p:cNvSpPr txBox="1"/>
            <p:nvPr/>
          </p:nvSpPr>
          <p:spPr>
            <a:xfrm>
              <a:off x="4071814" y="3548078"/>
              <a:ext cx="5830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MISO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96FD75-8F66-75F2-ED96-E1F27E2510AE}"/>
                </a:ext>
              </a:extLst>
            </p:cNvPr>
            <p:cNvSpPr txBox="1"/>
            <p:nvPr/>
          </p:nvSpPr>
          <p:spPr>
            <a:xfrm>
              <a:off x="5178134" y="3369839"/>
              <a:ext cx="9165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sclk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ss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D_en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r>
                <a:rPr lang="it-IT" sz="12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ADC_dout</a:t>
              </a:r>
              <a:endParaRPr lang="it-IT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3CF80A-FA6E-9304-8A14-8936AAF8320B}"/>
              </a:ext>
            </a:extLst>
          </p:cNvPr>
          <p:cNvCxnSpPr>
            <a:cxnSpLocks/>
          </p:cNvCxnSpPr>
          <p:nvPr/>
        </p:nvCxnSpPr>
        <p:spPr>
          <a:xfrm>
            <a:off x="4076105" y="3275936"/>
            <a:ext cx="50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FDF01F-F94D-7CFF-F478-31F8E2FA848C}"/>
              </a:ext>
            </a:extLst>
          </p:cNvPr>
          <p:cNvCxnSpPr>
            <a:cxnSpLocks/>
          </p:cNvCxnSpPr>
          <p:nvPr/>
        </p:nvCxnSpPr>
        <p:spPr>
          <a:xfrm>
            <a:off x="4076105" y="3464118"/>
            <a:ext cx="50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A13E317-067B-2556-32D6-FCFE2CE7B88A}"/>
              </a:ext>
            </a:extLst>
          </p:cNvPr>
          <p:cNvCxnSpPr>
            <a:cxnSpLocks/>
          </p:cNvCxnSpPr>
          <p:nvPr/>
        </p:nvCxnSpPr>
        <p:spPr>
          <a:xfrm flipV="1">
            <a:off x="4267112" y="3402496"/>
            <a:ext cx="95508" cy="1232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D49383C-5018-B7E9-8195-6BFA48225EDB}"/>
              </a:ext>
            </a:extLst>
          </p:cNvPr>
          <p:cNvSpPr txBox="1"/>
          <p:nvPr/>
        </p:nvSpPr>
        <p:spPr>
          <a:xfrm>
            <a:off x="4090726" y="3450748"/>
            <a:ext cx="457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Helvetica" panose="020B0604020202020204" pitchFamily="34" charset="0"/>
                <a:cs typeface="Helvetica" panose="020B0604020202020204" pitchFamily="34" charset="0"/>
              </a:rPr>
              <a:t>[9:0]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D3AE1F3-E1B8-0C1B-BFCE-5C0DCC7058BF}"/>
              </a:ext>
            </a:extLst>
          </p:cNvPr>
          <p:cNvCxnSpPr>
            <a:cxnSpLocks/>
            <a:stCxn id="13" idx="2"/>
          </p:cNvCxnSpPr>
          <p:nvPr/>
        </p:nvCxnSpPr>
        <p:spPr>
          <a:xfrm flipV="1">
            <a:off x="1804843" y="3098560"/>
            <a:ext cx="332285" cy="4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829DF9-0EF3-421C-10C0-6D6597A06171}"/>
              </a:ext>
            </a:extLst>
          </p:cNvPr>
          <p:cNvGrpSpPr/>
          <p:nvPr/>
        </p:nvGrpSpPr>
        <p:grpSpPr>
          <a:xfrm>
            <a:off x="1431293" y="2111073"/>
            <a:ext cx="2918416" cy="815009"/>
            <a:chOff x="1729409" y="2111071"/>
            <a:chExt cx="3776211" cy="72465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FD0F1EB-06F7-832B-A75E-FBE7623E0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6187" y="2826407"/>
              <a:ext cx="359433" cy="93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1090EC3-8DF6-6C75-BEF0-CD200D464C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9603" y="2111071"/>
              <a:ext cx="1" cy="7153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26DCF67-EA75-CE5A-80FC-D72CC82E5160}"/>
                </a:ext>
              </a:extLst>
            </p:cNvPr>
            <p:cNvCxnSpPr>
              <a:cxnSpLocks/>
            </p:cNvCxnSpPr>
            <p:nvPr/>
          </p:nvCxnSpPr>
          <p:spPr>
            <a:xfrm>
              <a:off x="1729409" y="2114310"/>
              <a:ext cx="37762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33A7A70-31B0-22C0-A2F9-ED8DBD6717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9409" y="2111071"/>
              <a:ext cx="0" cy="5378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2F1D460-FA4A-DF7F-DE93-8E88BACAA4D6}"/>
              </a:ext>
            </a:extLst>
          </p:cNvPr>
          <p:cNvGrpSpPr/>
          <p:nvPr/>
        </p:nvGrpSpPr>
        <p:grpSpPr>
          <a:xfrm>
            <a:off x="1266979" y="1953483"/>
            <a:ext cx="3281388" cy="1152830"/>
            <a:chOff x="1729409" y="2111071"/>
            <a:chExt cx="3776211" cy="815009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21B20DC-2238-3423-EA2E-C8E72861268D}"/>
                </a:ext>
              </a:extLst>
            </p:cNvPr>
            <p:cNvCxnSpPr>
              <a:cxnSpLocks/>
            </p:cNvCxnSpPr>
            <p:nvPr/>
          </p:nvCxnSpPr>
          <p:spPr>
            <a:xfrm>
              <a:off x="4962142" y="2911169"/>
              <a:ext cx="508963" cy="149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F3BCC75-D988-4B30-770E-4C6E20779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1105" y="2111071"/>
              <a:ext cx="18499" cy="8150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536B074-5578-45B1-0A8B-687A54B5326C}"/>
                </a:ext>
              </a:extLst>
            </p:cNvPr>
            <p:cNvCxnSpPr>
              <a:cxnSpLocks/>
            </p:cNvCxnSpPr>
            <p:nvPr/>
          </p:nvCxnSpPr>
          <p:spPr>
            <a:xfrm>
              <a:off x="1729409" y="2114310"/>
              <a:ext cx="37762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C15A194-B3A3-70CC-AFBE-4F386767E8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9409" y="2111071"/>
              <a:ext cx="0" cy="5323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Immagine 4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29A155D4-844C-5D5A-9C76-ED32CDD45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765" y="1834531"/>
            <a:ext cx="7583235" cy="1936273"/>
          </a:xfrm>
          <a:prstGeom prst="rect">
            <a:avLst/>
          </a:prstGeom>
        </p:spPr>
      </p:pic>
      <p:pic>
        <p:nvPicPr>
          <p:cNvPr id="42" name="Immagine 8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C90CAD31-73F4-E237-36AC-04D75A414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7" r="1330"/>
          <a:stretch>
            <a:fillRect/>
          </a:stretch>
        </p:blipFill>
        <p:spPr>
          <a:xfrm>
            <a:off x="8782003" y="177493"/>
            <a:ext cx="3243604" cy="1513195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421ED2E-FF4B-C86F-A386-BE89AF0541D1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3099182" y="4058644"/>
            <a:ext cx="0" cy="5293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5D8F6B4-FFFD-A592-821F-6453278776DB}"/>
              </a:ext>
            </a:extLst>
          </p:cNvPr>
          <p:cNvSpPr txBox="1"/>
          <p:nvPr/>
        </p:nvSpPr>
        <p:spPr>
          <a:xfrm>
            <a:off x="3099181" y="4374845"/>
            <a:ext cx="583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rst</a:t>
            </a:r>
            <a:endParaRPr lang="it-IT" sz="1200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827AA-3E32-90CB-95B5-2B80FD9852CF}"/>
              </a:ext>
            </a:extLst>
          </p:cNvPr>
          <p:cNvSpPr txBox="1"/>
          <p:nvPr/>
        </p:nvSpPr>
        <p:spPr>
          <a:xfrm>
            <a:off x="6392985" y="1690688"/>
            <a:ext cx="6174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25 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35050-9FAD-9FFD-6730-621BD091E7B8}"/>
              </a:ext>
            </a:extLst>
          </p:cNvPr>
          <p:cNvSpPr txBox="1"/>
          <p:nvPr/>
        </p:nvSpPr>
        <p:spPr>
          <a:xfrm>
            <a:off x="6914489" y="1693048"/>
            <a:ext cx="2460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25 ns =&gt;  </a:t>
            </a:r>
            <a:r>
              <a:rPr lang="it-IT" sz="1100" dirty="0" err="1"/>
              <a:t>Tsclk</a:t>
            </a:r>
            <a:r>
              <a:rPr lang="it-IT" sz="1100" dirty="0"/>
              <a:t> = 50 ns </a:t>
            </a:r>
            <a:r>
              <a:rPr lang="it-IT" sz="1100" dirty="0" err="1"/>
              <a:t>fsclk</a:t>
            </a:r>
            <a:r>
              <a:rPr lang="it-IT" sz="1100" dirty="0"/>
              <a:t> = 20 MHz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5A27D-CAAA-1542-258B-41850A65224A}"/>
              </a:ext>
            </a:extLst>
          </p:cNvPr>
          <p:cNvSpPr txBox="1"/>
          <p:nvPr/>
        </p:nvSpPr>
        <p:spPr>
          <a:xfrm>
            <a:off x="5630985" y="3912287"/>
            <a:ext cx="61741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 err="1"/>
              <a:t>convst</a:t>
            </a:r>
            <a:r>
              <a:rPr lang="it-IT" sz="1100"/>
              <a:t> T – 5 ns ??</a:t>
            </a: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1977824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03EA-3DBB-3CD7-E0FB-46FDB0305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SPI FSM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37811E-E453-4D44-EDB9-79D88BFABB2B}"/>
              </a:ext>
            </a:extLst>
          </p:cNvPr>
          <p:cNvSpPr/>
          <p:nvPr/>
        </p:nvSpPr>
        <p:spPr>
          <a:xfrm>
            <a:off x="1703754" y="2930769"/>
            <a:ext cx="1367692" cy="9456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3D5A6B-0771-E94C-E5E1-D8B2683BE56F}"/>
              </a:ext>
            </a:extLst>
          </p:cNvPr>
          <p:cNvSpPr txBox="1"/>
          <p:nvPr/>
        </p:nvSpPr>
        <p:spPr>
          <a:xfrm>
            <a:off x="2012461" y="32189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IDLE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CCB120-DF70-EC57-BE48-B43EF6A2CE62}"/>
              </a:ext>
            </a:extLst>
          </p:cNvPr>
          <p:cNvSpPr/>
          <p:nvPr/>
        </p:nvSpPr>
        <p:spPr>
          <a:xfrm>
            <a:off x="5419969" y="1236892"/>
            <a:ext cx="1586523" cy="9456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51795-F4BA-83D2-EE40-FCF3DCD0CBB2}"/>
              </a:ext>
            </a:extLst>
          </p:cNvPr>
          <p:cNvSpPr txBox="1"/>
          <p:nvPr/>
        </p:nvSpPr>
        <p:spPr>
          <a:xfrm>
            <a:off x="5419970" y="1525057"/>
            <a:ext cx="158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START_CONV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BA5895-FAA5-1781-F2CF-EF0BE4338C29}"/>
              </a:ext>
            </a:extLst>
          </p:cNvPr>
          <p:cNvSpPr/>
          <p:nvPr/>
        </p:nvSpPr>
        <p:spPr>
          <a:xfrm>
            <a:off x="9323754" y="2894087"/>
            <a:ext cx="1586523" cy="9456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BB7518-4407-4B8A-E34B-41855514C140}"/>
              </a:ext>
            </a:extLst>
          </p:cNvPr>
          <p:cNvSpPr txBox="1"/>
          <p:nvPr/>
        </p:nvSpPr>
        <p:spPr>
          <a:xfrm>
            <a:off x="9440986" y="3043752"/>
            <a:ext cx="1586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 TRANSFER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0BDAFE-4BCA-44E2-ED29-9CE6AA06C62C}"/>
              </a:ext>
            </a:extLst>
          </p:cNvPr>
          <p:cNvSpPr/>
          <p:nvPr/>
        </p:nvSpPr>
        <p:spPr>
          <a:xfrm>
            <a:off x="4450862" y="4362607"/>
            <a:ext cx="1586523" cy="94566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E17897-4AD9-FD74-5B36-9A6CCBAC6A3E}"/>
              </a:ext>
            </a:extLst>
          </p:cNvPr>
          <p:cNvSpPr txBox="1"/>
          <p:nvPr/>
        </p:nvSpPr>
        <p:spPr>
          <a:xfrm>
            <a:off x="4568094" y="4512272"/>
            <a:ext cx="158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STOP_CONV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785CE6-E953-0EED-4389-3D6646DEF57E}"/>
              </a:ext>
            </a:extLst>
          </p:cNvPr>
          <p:cNvSpPr txBox="1"/>
          <p:nvPr/>
        </p:nvSpPr>
        <p:spPr>
          <a:xfrm>
            <a:off x="1805353" y="4040554"/>
            <a:ext cx="1164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CPOL = 0</a:t>
            </a:r>
          </a:p>
          <a:p>
            <a:r>
              <a:rPr lang="it-IT" dirty="0" err="1"/>
              <a:t>busy</a:t>
            </a:r>
            <a:r>
              <a:rPr lang="it-IT" dirty="0"/>
              <a:t> = 0</a:t>
            </a:r>
          </a:p>
          <a:p>
            <a:r>
              <a:rPr lang="it-IT" dirty="0" err="1"/>
              <a:t>wait</a:t>
            </a:r>
            <a:endParaRPr lang="it-I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69714-EB40-8400-B7E3-6E70E0A6958F}"/>
              </a:ext>
            </a:extLst>
          </p:cNvPr>
          <p:cNvSpPr txBox="1"/>
          <p:nvPr/>
        </p:nvSpPr>
        <p:spPr>
          <a:xfrm>
            <a:off x="5650523" y="2205168"/>
            <a:ext cx="15865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CONVST = 0</a:t>
            </a:r>
          </a:p>
          <a:p>
            <a:r>
              <a:rPr lang="it-IT" dirty="0" err="1"/>
              <a:t>sclk</a:t>
            </a:r>
            <a:r>
              <a:rPr lang="it-IT" dirty="0"/>
              <a:t> </a:t>
            </a:r>
            <a:r>
              <a:rPr lang="it-IT" dirty="0" err="1"/>
              <a:t>leading</a:t>
            </a:r>
            <a:r>
              <a:rPr lang="it-IT" dirty="0"/>
              <a:t> </a:t>
            </a:r>
            <a:r>
              <a:rPr lang="it-IT" dirty="0" err="1"/>
              <a:t>edge</a:t>
            </a:r>
            <a:r>
              <a:rPr lang="it-IT" dirty="0"/>
              <a:t> + </a:t>
            </a: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8FB0CB0C-2EEC-7319-A8B3-132CF6B275C7}"/>
              </a:ext>
            </a:extLst>
          </p:cNvPr>
          <p:cNvCxnSpPr>
            <a:stCxn id="4" idx="7"/>
            <a:endCxn id="7" idx="1"/>
          </p:cNvCxnSpPr>
          <p:nvPr/>
        </p:nvCxnSpPr>
        <p:spPr>
          <a:xfrm rot="5400000" flipH="1" flipV="1">
            <a:off x="3465794" y="1115082"/>
            <a:ext cx="1359535" cy="254881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20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4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36024483-F19B-8045-175E-29104B44D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08" y="3952508"/>
            <a:ext cx="8324506" cy="1691209"/>
          </a:xfrm>
          <a:prstGeom prst="rect">
            <a:avLst/>
          </a:prstGeom>
        </p:spPr>
      </p:pic>
      <p:pic>
        <p:nvPicPr>
          <p:cNvPr id="3" name="Immagine 6" descr="Immagine che contiene testo, diagramma, linea, Piano&#10;&#10;Il contenuto generato dall'IA potrebbe non essere corretto.">
            <a:extLst>
              <a:ext uri="{FF2B5EF4-FFF2-40B4-BE49-F238E27FC236}">
                <a16:creationId xmlns:a16="http://schemas.microsoft.com/office/drawing/2014/main" id="{D5865FFF-F0A5-D504-E62C-0C2B6F07D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10" y="413536"/>
            <a:ext cx="4704649" cy="3322722"/>
          </a:xfrm>
          <a:prstGeom prst="rect">
            <a:avLst/>
          </a:prstGeom>
        </p:spPr>
      </p:pic>
      <p:pic>
        <p:nvPicPr>
          <p:cNvPr id="4" name="Immagine 8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3918A15A-3A6A-9F40-B868-2B63B2992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7" r="1330"/>
          <a:stretch>
            <a:fillRect/>
          </a:stretch>
        </p:blipFill>
        <p:spPr>
          <a:xfrm>
            <a:off x="6923935" y="934065"/>
            <a:ext cx="4225845" cy="1971427"/>
          </a:xfrm>
          <a:prstGeom prst="rect">
            <a:avLst/>
          </a:prstGeom>
        </p:spPr>
      </p:pic>
      <p:sp>
        <p:nvSpPr>
          <p:cNvPr id="6" name="CasellaDiTesto 3">
            <a:extLst>
              <a:ext uri="{FF2B5EF4-FFF2-40B4-BE49-F238E27FC236}">
                <a16:creationId xmlns:a16="http://schemas.microsoft.com/office/drawing/2014/main" id="{AFE839EC-CC3E-E794-06B8-07DABE971EBF}"/>
              </a:ext>
            </a:extLst>
          </p:cNvPr>
          <p:cNvSpPr txBox="1"/>
          <p:nvPr/>
        </p:nvSpPr>
        <p:spPr>
          <a:xfrm>
            <a:off x="3721608" y="5691737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10 ns</a:t>
            </a:r>
          </a:p>
        </p:txBody>
      </p:sp>
      <p:cxnSp>
        <p:nvCxnSpPr>
          <p:cNvPr id="8" name="Connettore diritto 9">
            <a:extLst>
              <a:ext uri="{FF2B5EF4-FFF2-40B4-BE49-F238E27FC236}">
                <a16:creationId xmlns:a16="http://schemas.microsoft.com/office/drawing/2014/main" id="{C4B7FC95-EB97-8802-1C3A-BDD6E9E2A807}"/>
              </a:ext>
            </a:extLst>
          </p:cNvPr>
          <p:cNvCxnSpPr>
            <a:cxnSpLocks/>
          </p:cNvCxnSpPr>
          <p:nvPr/>
        </p:nvCxnSpPr>
        <p:spPr>
          <a:xfrm>
            <a:off x="4295590" y="6061069"/>
            <a:ext cx="0" cy="2985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10">
            <a:extLst>
              <a:ext uri="{FF2B5EF4-FFF2-40B4-BE49-F238E27FC236}">
                <a16:creationId xmlns:a16="http://schemas.microsoft.com/office/drawing/2014/main" id="{1123DBF1-1991-3FB0-6401-945EF4DE2FB4}"/>
              </a:ext>
            </a:extLst>
          </p:cNvPr>
          <p:cNvCxnSpPr>
            <a:cxnSpLocks/>
          </p:cNvCxnSpPr>
          <p:nvPr/>
        </p:nvCxnSpPr>
        <p:spPr>
          <a:xfrm>
            <a:off x="3890206" y="6061068"/>
            <a:ext cx="0" cy="2985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2">
            <a:extLst>
              <a:ext uri="{FF2B5EF4-FFF2-40B4-BE49-F238E27FC236}">
                <a16:creationId xmlns:a16="http://schemas.microsoft.com/office/drawing/2014/main" id="{91F91106-EA13-2463-914B-1F96670644D4}"/>
              </a:ext>
            </a:extLst>
          </p:cNvPr>
          <p:cNvCxnSpPr/>
          <p:nvPr/>
        </p:nvCxnSpPr>
        <p:spPr>
          <a:xfrm>
            <a:off x="3890206" y="6210349"/>
            <a:ext cx="4053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4">
            <a:extLst>
              <a:ext uri="{FF2B5EF4-FFF2-40B4-BE49-F238E27FC236}">
                <a16:creationId xmlns:a16="http://schemas.microsoft.com/office/drawing/2014/main" id="{3E24C1DF-F0FA-AE58-95FF-4EA54987E9C8}"/>
              </a:ext>
            </a:extLst>
          </p:cNvPr>
          <p:cNvCxnSpPr/>
          <p:nvPr/>
        </p:nvCxnSpPr>
        <p:spPr>
          <a:xfrm>
            <a:off x="3890206" y="6455664"/>
            <a:ext cx="0" cy="2468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6">
            <a:extLst>
              <a:ext uri="{FF2B5EF4-FFF2-40B4-BE49-F238E27FC236}">
                <a16:creationId xmlns:a16="http://schemas.microsoft.com/office/drawing/2014/main" id="{08F6BC84-DD75-CCB1-1B47-AACA9F4B5669}"/>
              </a:ext>
            </a:extLst>
          </p:cNvPr>
          <p:cNvCxnSpPr/>
          <p:nvPr/>
        </p:nvCxnSpPr>
        <p:spPr>
          <a:xfrm>
            <a:off x="3890206" y="6579108"/>
            <a:ext cx="48331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8">
            <a:extLst>
              <a:ext uri="{FF2B5EF4-FFF2-40B4-BE49-F238E27FC236}">
                <a16:creationId xmlns:a16="http://schemas.microsoft.com/office/drawing/2014/main" id="{891F0AB0-1D93-21C1-2B15-9CCE7E193CBC}"/>
              </a:ext>
            </a:extLst>
          </p:cNvPr>
          <p:cNvCxnSpPr/>
          <p:nvPr/>
        </p:nvCxnSpPr>
        <p:spPr>
          <a:xfrm>
            <a:off x="8714232" y="6359631"/>
            <a:ext cx="0" cy="3429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9">
            <a:extLst>
              <a:ext uri="{FF2B5EF4-FFF2-40B4-BE49-F238E27FC236}">
                <a16:creationId xmlns:a16="http://schemas.microsoft.com/office/drawing/2014/main" id="{C4FDFC52-03A0-7766-E4FC-8DCF225E3DBE}"/>
              </a:ext>
            </a:extLst>
          </p:cNvPr>
          <p:cNvSpPr txBox="1"/>
          <p:nvPr/>
        </p:nvSpPr>
        <p:spPr>
          <a:xfrm>
            <a:off x="5751576" y="6210349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100ns</a:t>
            </a:r>
          </a:p>
        </p:txBody>
      </p:sp>
      <p:cxnSp>
        <p:nvCxnSpPr>
          <p:cNvPr id="16" name="Connettore diritto 21">
            <a:extLst>
              <a:ext uri="{FF2B5EF4-FFF2-40B4-BE49-F238E27FC236}">
                <a16:creationId xmlns:a16="http://schemas.microsoft.com/office/drawing/2014/main" id="{EC6B00BC-6F9B-F36B-FD1C-F7D97A8B2601}"/>
              </a:ext>
            </a:extLst>
          </p:cNvPr>
          <p:cNvCxnSpPr/>
          <p:nvPr/>
        </p:nvCxnSpPr>
        <p:spPr>
          <a:xfrm>
            <a:off x="1508081" y="722376"/>
            <a:ext cx="443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22">
            <a:extLst>
              <a:ext uri="{FF2B5EF4-FFF2-40B4-BE49-F238E27FC236}">
                <a16:creationId xmlns:a16="http://schemas.microsoft.com/office/drawing/2014/main" id="{82AA37F4-D00B-B8F6-E812-8543CEDC33CD}"/>
              </a:ext>
            </a:extLst>
          </p:cNvPr>
          <p:cNvCxnSpPr/>
          <p:nvPr/>
        </p:nvCxnSpPr>
        <p:spPr>
          <a:xfrm>
            <a:off x="1508081" y="3429000"/>
            <a:ext cx="443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24">
            <a:extLst>
              <a:ext uri="{FF2B5EF4-FFF2-40B4-BE49-F238E27FC236}">
                <a16:creationId xmlns:a16="http://schemas.microsoft.com/office/drawing/2014/main" id="{13B2078A-278C-94D9-0A4B-40E147DC79B5}"/>
              </a:ext>
            </a:extLst>
          </p:cNvPr>
          <p:cNvCxnSpPr/>
          <p:nvPr/>
        </p:nvCxnSpPr>
        <p:spPr>
          <a:xfrm>
            <a:off x="1729906" y="722376"/>
            <a:ext cx="0" cy="27066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25">
                <a:extLst>
                  <a:ext uri="{FF2B5EF4-FFF2-40B4-BE49-F238E27FC236}">
                    <a16:creationId xmlns:a16="http://schemas.microsoft.com/office/drawing/2014/main" id="{4F5A3D52-2CE0-53AD-8FFE-76AE653626C7}"/>
                  </a:ext>
                </a:extLst>
              </p:cNvPr>
              <p:cNvSpPr txBox="1"/>
              <p:nvPr/>
            </p:nvSpPr>
            <p:spPr>
              <a:xfrm>
                <a:off x="555288" y="1735112"/>
                <a:ext cx="11302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it-IT" dirty="0"/>
                  <a:t>=1024</a:t>
                </a:r>
              </a:p>
            </p:txBody>
          </p:sp>
        </mc:Choice>
        <mc:Fallback xmlns="">
          <p:sp>
            <p:nvSpPr>
              <p:cNvPr id="19" name="CasellaDiTesto 25">
                <a:extLst>
                  <a:ext uri="{FF2B5EF4-FFF2-40B4-BE49-F238E27FC236}">
                    <a16:creationId xmlns:a16="http://schemas.microsoft.com/office/drawing/2014/main" id="{4F5A3D52-2CE0-53AD-8FFE-76AE65362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88" y="1735112"/>
                <a:ext cx="1130246" cy="369332"/>
              </a:xfrm>
              <a:prstGeom prst="rect">
                <a:avLst/>
              </a:prstGeom>
              <a:blipFill>
                <a:blip r:embed="rId5"/>
                <a:stretch>
                  <a:fillRect t="-8333" r="-3784" b="-28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17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4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C2952893-6566-2487-4E96-28DEF5A06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6"/>
          <a:stretch>
            <a:fillRect/>
          </a:stretch>
        </p:blipFill>
        <p:spPr>
          <a:xfrm>
            <a:off x="940920" y="1097279"/>
            <a:ext cx="6268511" cy="4165283"/>
          </a:xfrm>
          <a:prstGeom prst="rect">
            <a:avLst/>
          </a:prstGeom>
        </p:spPr>
      </p:pic>
      <p:pic>
        <p:nvPicPr>
          <p:cNvPr id="5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95677BFB-BBEF-06FD-C611-BE4853A86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548" y="658957"/>
            <a:ext cx="4153480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97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13651E-E6EE-0137-3B70-7225A422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590" y="340685"/>
            <a:ext cx="10515600" cy="1325563"/>
          </a:xfrm>
        </p:spPr>
        <p:txBody>
          <a:bodyPr/>
          <a:lstStyle/>
          <a:p>
            <a:r>
              <a:rPr lang="it-IT" dirty="0"/>
              <a:t>FIFO</a:t>
            </a:r>
          </a:p>
        </p:txBody>
      </p:sp>
      <p:grpSp>
        <p:nvGrpSpPr>
          <p:cNvPr id="4" name="Group 24">
            <a:extLst>
              <a:ext uri="{FF2B5EF4-FFF2-40B4-BE49-F238E27FC236}">
                <a16:creationId xmlns:a16="http://schemas.microsoft.com/office/drawing/2014/main" id="{ABE9A998-B83C-2440-2E6E-184EE542546E}"/>
              </a:ext>
            </a:extLst>
          </p:cNvPr>
          <p:cNvGrpSpPr/>
          <p:nvPr/>
        </p:nvGrpSpPr>
        <p:grpSpPr>
          <a:xfrm>
            <a:off x="5188995" y="1832464"/>
            <a:ext cx="1953848" cy="1735016"/>
            <a:chOff x="4071814" y="2915138"/>
            <a:chExt cx="1953848" cy="1735016"/>
          </a:xfrm>
        </p:grpSpPr>
        <p:sp>
          <p:nvSpPr>
            <p:cNvPr id="5" name="Rectangle 25">
              <a:extLst>
                <a:ext uri="{FF2B5EF4-FFF2-40B4-BE49-F238E27FC236}">
                  <a16:creationId xmlns:a16="http://schemas.microsoft.com/office/drawing/2014/main" id="{B444B866-8FA6-1970-6EBA-A3980A7EA834}"/>
                </a:ext>
              </a:extLst>
            </p:cNvPr>
            <p:cNvSpPr/>
            <p:nvPr/>
          </p:nvSpPr>
          <p:spPr>
            <a:xfrm>
              <a:off x="4071815" y="2915138"/>
              <a:ext cx="1953847" cy="1735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Isosceles Triangle 27">
              <a:extLst>
                <a:ext uri="{FF2B5EF4-FFF2-40B4-BE49-F238E27FC236}">
                  <a16:creationId xmlns:a16="http://schemas.microsoft.com/office/drawing/2014/main" id="{B9B63094-48A4-233A-EC7D-225C2D82795D}"/>
                </a:ext>
              </a:extLst>
            </p:cNvPr>
            <p:cNvSpPr/>
            <p:nvPr/>
          </p:nvSpPr>
          <p:spPr>
            <a:xfrm rot="5400000">
              <a:off x="4045487" y="4258990"/>
              <a:ext cx="275670" cy="22301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B4AF853-554C-80BB-D7B2-048915E639A3}"/>
              </a:ext>
            </a:extLst>
          </p:cNvPr>
          <p:cNvSpPr txBox="1"/>
          <p:nvPr/>
        </p:nvSpPr>
        <p:spPr>
          <a:xfrm>
            <a:off x="5164801" y="3625285"/>
            <a:ext cx="1978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Central Memory</a:t>
            </a:r>
          </a:p>
          <a:p>
            <a:r>
              <a:rPr lang="it-IT" dirty="0"/>
              <a:t>Dual Port </a:t>
            </a:r>
            <a:r>
              <a:rPr lang="it-IT" dirty="0" err="1"/>
              <a:t>memory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0A91A11-E26B-8B9D-E8FC-05180BBD914B}"/>
              </a:ext>
            </a:extLst>
          </p:cNvPr>
          <p:cNvSpPr txBox="1"/>
          <p:nvPr/>
        </p:nvSpPr>
        <p:spPr>
          <a:xfrm>
            <a:off x="2385059" y="2604534"/>
            <a:ext cx="750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WrPtr</a:t>
            </a:r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77FFC0A-DD71-96A9-41AE-D4D05273B491}"/>
              </a:ext>
            </a:extLst>
          </p:cNvPr>
          <p:cNvSpPr txBox="1"/>
          <p:nvPr/>
        </p:nvSpPr>
        <p:spPr>
          <a:xfrm>
            <a:off x="9168537" y="2622683"/>
            <a:ext cx="73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RdPtr</a:t>
            </a:r>
            <a:endParaRPr lang="it-IT" dirty="0"/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AF2D991C-2C1D-976E-9366-713479482B95}"/>
              </a:ext>
            </a:extLst>
          </p:cNvPr>
          <p:cNvCxnSpPr>
            <a:cxnSpLocks/>
          </p:cNvCxnSpPr>
          <p:nvPr/>
        </p:nvCxnSpPr>
        <p:spPr>
          <a:xfrm>
            <a:off x="3227032" y="2807349"/>
            <a:ext cx="19308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0DB0BD22-0989-47DF-C1B7-CE1EB31CADDA}"/>
              </a:ext>
            </a:extLst>
          </p:cNvPr>
          <p:cNvCxnSpPr>
            <a:cxnSpLocks/>
          </p:cNvCxnSpPr>
          <p:nvPr/>
        </p:nvCxnSpPr>
        <p:spPr>
          <a:xfrm>
            <a:off x="7157464" y="2784522"/>
            <a:ext cx="19308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7880FD0-1B5D-6AA6-1C5B-3294E0424AE1}"/>
              </a:ext>
            </a:extLst>
          </p:cNvPr>
          <p:cNvSpPr txBox="1"/>
          <p:nvPr/>
        </p:nvSpPr>
        <p:spPr>
          <a:xfrm>
            <a:off x="1553497" y="3287159"/>
            <a:ext cx="1109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Counters</a:t>
            </a: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B4AA0415-E5F4-14AC-4467-826ECEDCAE62}"/>
              </a:ext>
            </a:extLst>
          </p:cNvPr>
          <p:cNvCxnSpPr/>
          <p:nvPr/>
        </p:nvCxnSpPr>
        <p:spPr>
          <a:xfrm flipH="1">
            <a:off x="2385059" y="2992015"/>
            <a:ext cx="112335" cy="295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998FA1B8-88FC-0256-6FE0-16E3B2E27F60}"/>
              </a:ext>
            </a:extLst>
          </p:cNvPr>
          <p:cNvSpPr txBox="1"/>
          <p:nvPr/>
        </p:nvSpPr>
        <p:spPr>
          <a:xfrm>
            <a:off x="7242007" y="5180925"/>
            <a:ext cx="560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LUT</a:t>
            </a:r>
          </a:p>
          <a:p>
            <a:endParaRPr lang="it-IT" dirty="0"/>
          </a:p>
        </p:txBody>
      </p: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ECEE649A-3699-BABA-872A-121A99DC3446}"/>
              </a:ext>
            </a:extLst>
          </p:cNvPr>
          <p:cNvCxnSpPr>
            <a:cxnSpLocks/>
          </p:cNvCxnSpPr>
          <p:nvPr/>
        </p:nvCxnSpPr>
        <p:spPr>
          <a:xfrm flipH="1">
            <a:off x="5034116" y="4384069"/>
            <a:ext cx="458519" cy="759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ED8E37E1-FE8B-2B43-29E6-4F7C8C3EFC84}"/>
              </a:ext>
            </a:extLst>
          </p:cNvPr>
          <p:cNvCxnSpPr>
            <a:cxnSpLocks/>
          </p:cNvCxnSpPr>
          <p:nvPr/>
        </p:nvCxnSpPr>
        <p:spPr>
          <a:xfrm>
            <a:off x="6744684" y="4329421"/>
            <a:ext cx="777721" cy="75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57D69AD6-9900-12B6-FF92-69B7F69FE775}"/>
              </a:ext>
            </a:extLst>
          </p:cNvPr>
          <p:cNvCxnSpPr>
            <a:cxnSpLocks/>
          </p:cNvCxnSpPr>
          <p:nvPr/>
        </p:nvCxnSpPr>
        <p:spPr>
          <a:xfrm>
            <a:off x="6153822" y="4329421"/>
            <a:ext cx="89662" cy="851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3037EFF-C036-2D3E-630F-9D5570FC2D3D}"/>
              </a:ext>
            </a:extLst>
          </p:cNvPr>
          <p:cNvSpPr txBox="1"/>
          <p:nvPr/>
        </p:nvSpPr>
        <p:spPr>
          <a:xfrm>
            <a:off x="4058344" y="5180926"/>
            <a:ext cx="11064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Registers</a:t>
            </a:r>
            <a:endParaRPr lang="it-IT" dirty="0"/>
          </a:p>
          <a:p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F3CE0C5-B225-E323-8B35-BF6B84788067}"/>
              </a:ext>
            </a:extLst>
          </p:cNvPr>
          <p:cNvSpPr txBox="1"/>
          <p:nvPr/>
        </p:nvSpPr>
        <p:spPr>
          <a:xfrm>
            <a:off x="5883397" y="5203351"/>
            <a:ext cx="785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BRam</a:t>
            </a:r>
            <a:endParaRPr lang="it-IT" dirty="0"/>
          </a:p>
          <a:p>
            <a:endParaRPr lang="it-IT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3712FC8-C00C-8E99-8679-5CF95C2FCD50}"/>
              </a:ext>
            </a:extLst>
          </p:cNvPr>
          <p:cNvSpPr/>
          <p:nvPr/>
        </p:nvSpPr>
        <p:spPr>
          <a:xfrm>
            <a:off x="5215099" y="1820450"/>
            <a:ext cx="1958879" cy="1767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IP</a:t>
            </a:r>
          </a:p>
        </p:txBody>
      </p:sp>
      <p:sp>
        <p:nvSpPr>
          <p:cNvPr id="14" name="TextBox 29">
            <a:extLst>
              <a:ext uri="{FF2B5EF4-FFF2-40B4-BE49-F238E27FC236}">
                <a16:creationId xmlns:a16="http://schemas.microsoft.com/office/drawing/2014/main" id="{B0D05F17-968F-F662-8195-53FF44099F20}"/>
              </a:ext>
            </a:extLst>
          </p:cNvPr>
          <p:cNvSpPr txBox="1"/>
          <p:nvPr/>
        </p:nvSpPr>
        <p:spPr>
          <a:xfrm>
            <a:off x="5183964" y="2300347"/>
            <a:ext cx="8400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it-IT" sz="1200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w_data</a:t>
            </a:r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it-IT" sz="1200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wr_en</a:t>
            </a:r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TextBox 28">
            <a:extLst>
              <a:ext uri="{FF2B5EF4-FFF2-40B4-BE49-F238E27FC236}">
                <a16:creationId xmlns:a16="http://schemas.microsoft.com/office/drawing/2014/main" id="{2A7666D6-6081-E06B-4F1C-5117245DC413}"/>
              </a:ext>
            </a:extLst>
          </p:cNvPr>
          <p:cNvSpPr txBox="1"/>
          <p:nvPr/>
        </p:nvSpPr>
        <p:spPr>
          <a:xfrm>
            <a:off x="5401560" y="3168999"/>
            <a:ext cx="401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clk</a:t>
            </a:r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TextBox 30">
            <a:extLst>
              <a:ext uri="{FF2B5EF4-FFF2-40B4-BE49-F238E27FC236}">
                <a16:creationId xmlns:a16="http://schemas.microsoft.com/office/drawing/2014/main" id="{C318B011-0C6D-CD1E-32CC-981AE56E5F96}"/>
              </a:ext>
            </a:extLst>
          </p:cNvPr>
          <p:cNvSpPr txBox="1"/>
          <p:nvPr/>
        </p:nvSpPr>
        <p:spPr>
          <a:xfrm>
            <a:off x="6527439" y="2182485"/>
            <a:ext cx="9165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r_data</a:t>
            </a:r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it-IT" sz="1200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rd_en</a:t>
            </a:r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it-IT" sz="1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full</a:t>
            </a:r>
          </a:p>
          <a:p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it-IT" sz="1200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empty</a:t>
            </a:r>
            <a:endParaRPr lang="it-IT" sz="1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id="{30F7808E-EE2C-61AF-D66C-ACA5E0B4D6B5}"/>
              </a:ext>
            </a:extLst>
          </p:cNvPr>
          <p:cNvSpPr txBox="1"/>
          <p:nvPr/>
        </p:nvSpPr>
        <p:spPr>
          <a:xfrm>
            <a:off x="5212553" y="1844451"/>
            <a:ext cx="1911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FIFOwidth10_depth</a:t>
            </a:r>
            <a:r>
              <a:rPr lang="it-IT" sz="14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88D9E532-7F21-0024-0130-54C5E0ABCE30}"/>
              </a:ext>
            </a:extLst>
          </p:cNvPr>
          <p:cNvCxnSpPr>
            <a:endCxn id="17" idx="1"/>
          </p:cNvCxnSpPr>
          <p:nvPr/>
        </p:nvCxnSpPr>
        <p:spPr>
          <a:xfrm>
            <a:off x="5211299" y="3168999"/>
            <a:ext cx="190261" cy="1384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C720E1A0-DBC4-2B5F-94F5-9BB97397A8A2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5172482" y="3307499"/>
            <a:ext cx="229078" cy="1609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96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8B82BD-08A2-F8DD-D0E2-58E6C4FBB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473"/>
            <a:ext cx="10515600" cy="1325563"/>
          </a:xfrm>
        </p:spPr>
        <p:txBody>
          <a:bodyPr/>
          <a:lstStyle/>
          <a:p>
            <a:r>
              <a:rPr lang="it-IT" dirty="0"/>
              <a:t>FIFO BLOCK DIAGRAM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9E5BC0B-6148-3BE5-517C-27D361BE44CB}"/>
              </a:ext>
            </a:extLst>
          </p:cNvPr>
          <p:cNvSpPr/>
          <p:nvPr/>
        </p:nvSpPr>
        <p:spPr>
          <a:xfrm>
            <a:off x="3372104" y="1856987"/>
            <a:ext cx="5314066" cy="125990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Dual port </a:t>
            </a:r>
            <a:r>
              <a:rPr lang="it-IT" dirty="0" err="1">
                <a:solidFill>
                  <a:schemeClr val="bg1"/>
                </a:solidFill>
              </a:rPr>
              <a:t>memory</a:t>
            </a:r>
            <a:r>
              <a:rPr lang="it-IT" dirty="0">
                <a:solidFill>
                  <a:schemeClr val="bg1"/>
                </a:solidFill>
              </a:rPr>
              <a:t> array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283411C-36DC-B7A4-815B-57E87322F827}"/>
              </a:ext>
            </a:extLst>
          </p:cNvPr>
          <p:cNvSpPr/>
          <p:nvPr/>
        </p:nvSpPr>
        <p:spPr>
          <a:xfrm>
            <a:off x="869165" y="1538518"/>
            <a:ext cx="1622322" cy="4179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Write</a:t>
            </a:r>
          </a:p>
          <a:p>
            <a:pPr algn="ctr"/>
            <a:r>
              <a:rPr lang="it-IT" dirty="0"/>
              <a:t>Interface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73C0EB8-7200-756D-F425-8116DCD4234F}"/>
              </a:ext>
            </a:extLst>
          </p:cNvPr>
          <p:cNvSpPr/>
          <p:nvPr/>
        </p:nvSpPr>
        <p:spPr>
          <a:xfrm>
            <a:off x="9566787" y="1376516"/>
            <a:ext cx="1828800" cy="45031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Read</a:t>
            </a:r>
          </a:p>
          <a:p>
            <a:pPr algn="ctr"/>
            <a:r>
              <a:rPr lang="it-IT" dirty="0"/>
              <a:t>Interface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CB3FD0D-C8AA-732C-B77D-4BE8CA9C91BA}"/>
              </a:ext>
            </a:extLst>
          </p:cNvPr>
          <p:cNvSpPr/>
          <p:nvPr/>
        </p:nvSpPr>
        <p:spPr>
          <a:xfrm>
            <a:off x="2856270" y="4109422"/>
            <a:ext cx="1622323" cy="9246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Write</a:t>
            </a:r>
          </a:p>
          <a:p>
            <a:pPr algn="ctr"/>
            <a:r>
              <a:rPr lang="it-IT" dirty="0"/>
              <a:t>Pointer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40C4446-2C00-8191-2F73-8720C2C1AC76}"/>
              </a:ext>
            </a:extLst>
          </p:cNvPr>
          <p:cNvSpPr/>
          <p:nvPr/>
        </p:nvSpPr>
        <p:spPr>
          <a:xfrm>
            <a:off x="5016542" y="4109420"/>
            <a:ext cx="1739680" cy="9246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Compare </a:t>
            </a:r>
          </a:p>
          <a:p>
            <a:pPr algn="ctr"/>
            <a:r>
              <a:rPr lang="it-IT" dirty="0" err="1"/>
              <a:t>Logic</a:t>
            </a:r>
            <a:endParaRPr lang="it-IT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7273DA2-758A-2BDD-7F65-F635C366F418}"/>
              </a:ext>
            </a:extLst>
          </p:cNvPr>
          <p:cNvSpPr/>
          <p:nvPr/>
        </p:nvSpPr>
        <p:spPr>
          <a:xfrm>
            <a:off x="7294171" y="4109419"/>
            <a:ext cx="1828800" cy="924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Read </a:t>
            </a:r>
          </a:p>
          <a:p>
            <a:pPr algn="ctr"/>
            <a:r>
              <a:rPr lang="it-IT" dirty="0"/>
              <a:t>Pointer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41DEFA6-4B83-213E-3143-3BA7E54A5383}"/>
              </a:ext>
            </a:extLst>
          </p:cNvPr>
          <p:cNvSpPr txBox="1"/>
          <p:nvPr/>
        </p:nvSpPr>
        <p:spPr>
          <a:xfrm>
            <a:off x="3400575" y="1841459"/>
            <a:ext cx="1095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Write data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F5F9C2B-428F-A13C-CA95-C8E5DBDA269E}"/>
              </a:ext>
            </a:extLst>
          </p:cNvPr>
          <p:cNvSpPr txBox="1"/>
          <p:nvPr/>
        </p:nvSpPr>
        <p:spPr>
          <a:xfrm>
            <a:off x="3372104" y="2778337"/>
            <a:ext cx="14219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Write </a:t>
            </a:r>
            <a:r>
              <a:rPr lang="it-IT" sz="1600" dirty="0" err="1">
                <a:solidFill>
                  <a:schemeClr val="bg1"/>
                </a:solidFill>
              </a:rPr>
              <a:t>Address</a:t>
            </a:r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E8056DF-4DDB-904A-525E-0B78EECDF9AF}"/>
              </a:ext>
            </a:extLst>
          </p:cNvPr>
          <p:cNvSpPr txBox="1"/>
          <p:nvPr/>
        </p:nvSpPr>
        <p:spPr>
          <a:xfrm>
            <a:off x="7562591" y="1798653"/>
            <a:ext cx="1079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Read data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FAD5C9C-40D4-1A9B-FBBB-25F4B5BDFE51}"/>
              </a:ext>
            </a:extLst>
          </p:cNvPr>
          <p:cNvSpPr txBox="1"/>
          <p:nvPr/>
        </p:nvSpPr>
        <p:spPr>
          <a:xfrm>
            <a:off x="7294171" y="2793865"/>
            <a:ext cx="1406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Read </a:t>
            </a:r>
            <a:r>
              <a:rPr lang="it-IT" sz="1600" dirty="0" err="1">
                <a:solidFill>
                  <a:schemeClr val="bg1"/>
                </a:solidFill>
              </a:rPr>
              <a:t>Address</a:t>
            </a:r>
            <a:endParaRPr lang="it-IT" sz="1600" dirty="0">
              <a:solidFill>
                <a:schemeClr val="bg1"/>
              </a:solidFill>
            </a:endParaRP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FCD85589-3E5E-2284-B056-AC48E36C45A6}"/>
              </a:ext>
            </a:extLst>
          </p:cNvPr>
          <p:cNvCxnSpPr/>
          <p:nvPr/>
        </p:nvCxnSpPr>
        <p:spPr>
          <a:xfrm>
            <a:off x="166788" y="4147705"/>
            <a:ext cx="6612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A42430B-C733-A297-56E9-DFCD2F633137}"/>
              </a:ext>
            </a:extLst>
          </p:cNvPr>
          <p:cNvSpPr txBox="1"/>
          <p:nvPr/>
        </p:nvSpPr>
        <p:spPr>
          <a:xfrm>
            <a:off x="94025" y="1989713"/>
            <a:ext cx="762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Write </a:t>
            </a:r>
          </a:p>
          <a:p>
            <a:r>
              <a:rPr lang="it-IT" dirty="0"/>
              <a:t>data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D7060FA-B929-3B95-E174-E330ED2C7A7C}"/>
              </a:ext>
            </a:extLst>
          </p:cNvPr>
          <p:cNvSpPr txBox="1"/>
          <p:nvPr/>
        </p:nvSpPr>
        <p:spPr>
          <a:xfrm>
            <a:off x="77430" y="3807494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Write </a:t>
            </a:r>
          </a:p>
          <a:p>
            <a:r>
              <a:rPr lang="it-IT" dirty="0" err="1"/>
              <a:t>Enable</a:t>
            </a:r>
            <a:endParaRPr lang="it-IT" dirty="0"/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FF69EFF-1FB0-50EB-6889-7FD91CA601C4}"/>
              </a:ext>
            </a:extLst>
          </p:cNvPr>
          <p:cNvCxnSpPr/>
          <p:nvPr/>
        </p:nvCxnSpPr>
        <p:spPr>
          <a:xfrm>
            <a:off x="183798" y="2312879"/>
            <a:ext cx="6612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2E5F8392-37F4-270D-FB82-578B8E94E0B2}"/>
              </a:ext>
            </a:extLst>
          </p:cNvPr>
          <p:cNvCxnSpPr/>
          <p:nvPr/>
        </p:nvCxnSpPr>
        <p:spPr>
          <a:xfrm flipH="1">
            <a:off x="294968" y="5112774"/>
            <a:ext cx="5432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B4FC21BE-2061-0EB0-4DA8-2721046DE424}"/>
              </a:ext>
            </a:extLst>
          </p:cNvPr>
          <p:cNvSpPr txBox="1"/>
          <p:nvPr/>
        </p:nvSpPr>
        <p:spPr>
          <a:xfrm>
            <a:off x="272479" y="5112774"/>
            <a:ext cx="55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Full</a:t>
            </a: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22182D66-C6B9-5DC4-A6C9-12F7D95F158B}"/>
              </a:ext>
            </a:extLst>
          </p:cNvPr>
          <p:cNvCxnSpPr/>
          <p:nvPr/>
        </p:nvCxnSpPr>
        <p:spPr>
          <a:xfrm>
            <a:off x="5565058" y="5034114"/>
            <a:ext cx="0" cy="4479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D9903BF5-EA78-A189-5A8F-1DA038FEEF70}"/>
              </a:ext>
            </a:extLst>
          </p:cNvPr>
          <p:cNvCxnSpPr/>
          <p:nvPr/>
        </p:nvCxnSpPr>
        <p:spPr>
          <a:xfrm flipH="1">
            <a:off x="2491487" y="5482106"/>
            <a:ext cx="30735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C1431B93-D961-86D1-C61B-EB4290B5882B}"/>
              </a:ext>
            </a:extLst>
          </p:cNvPr>
          <p:cNvCxnSpPr>
            <a:cxnSpLocks/>
          </p:cNvCxnSpPr>
          <p:nvPr/>
        </p:nvCxnSpPr>
        <p:spPr>
          <a:xfrm>
            <a:off x="6470982" y="5492560"/>
            <a:ext cx="30529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8367A571-E62D-F3FB-FF3B-60961A78A145}"/>
              </a:ext>
            </a:extLst>
          </p:cNvPr>
          <p:cNvCxnSpPr>
            <a:cxnSpLocks/>
          </p:cNvCxnSpPr>
          <p:nvPr/>
        </p:nvCxnSpPr>
        <p:spPr>
          <a:xfrm flipV="1">
            <a:off x="6470982" y="5034114"/>
            <a:ext cx="0" cy="4584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09F136BE-F7AF-B19E-501A-7DC275467C1F}"/>
              </a:ext>
            </a:extLst>
          </p:cNvPr>
          <p:cNvSpPr txBox="1"/>
          <p:nvPr/>
        </p:nvSpPr>
        <p:spPr>
          <a:xfrm>
            <a:off x="4106933" y="5138206"/>
            <a:ext cx="55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Full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68A3E02-5E11-0B40-E6D5-60902BD352E6}"/>
              </a:ext>
            </a:extLst>
          </p:cNvPr>
          <p:cNvSpPr txBox="1"/>
          <p:nvPr/>
        </p:nvSpPr>
        <p:spPr>
          <a:xfrm>
            <a:off x="6985732" y="5138206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Empty</a:t>
            </a:r>
            <a:endParaRPr lang="it-IT" dirty="0"/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FAA432B5-1A93-DB54-4D61-6319F63762A1}"/>
              </a:ext>
            </a:extLst>
          </p:cNvPr>
          <p:cNvCxnSpPr>
            <a:endCxn id="9" idx="1"/>
          </p:cNvCxnSpPr>
          <p:nvPr/>
        </p:nvCxnSpPr>
        <p:spPr>
          <a:xfrm>
            <a:off x="2491487" y="4571766"/>
            <a:ext cx="364783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EE9E7D31-D1A7-D246-5B49-4418D9DD8012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4478593" y="4571767"/>
            <a:ext cx="53794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D33A79C9-E255-664B-F3AE-46880D0FD31C}"/>
              </a:ext>
            </a:extLst>
          </p:cNvPr>
          <p:cNvCxnSpPr>
            <a:endCxn id="11" idx="3"/>
          </p:cNvCxnSpPr>
          <p:nvPr/>
        </p:nvCxnSpPr>
        <p:spPr>
          <a:xfrm flipH="1">
            <a:off x="9122971" y="4571766"/>
            <a:ext cx="40092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81E2E7EF-F113-C784-5A5F-62DB2F3522CD}"/>
              </a:ext>
            </a:extLst>
          </p:cNvPr>
          <p:cNvCxnSpPr>
            <a:stCxn id="11" idx="1"/>
            <a:endCxn id="10" idx="3"/>
          </p:cNvCxnSpPr>
          <p:nvPr/>
        </p:nvCxnSpPr>
        <p:spPr>
          <a:xfrm flipH="1">
            <a:off x="6756222" y="4571767"/>
            <a:ext cx="5379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04682C3D-E984-A022-5D0A-7671767CAE1E}"/>
              </a:ext>
            </a:extLst>
          </p:cNvPr>
          <p:cNvCxnSpPr>
            <a:stCxn id="11" idx="0"/>
          </p:cNvCxnSpPr>
          <p:nvPr/>
        </p:nvCxnSpPr>
        <p:spPr>
          <a:xfrm flipV="1">
            <a:off x="8208571" y="3132419"/>
            <a:ext cx="0" cy="97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8A470CEA-2051-4C37-B055-21286D8B09C0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3667431" y="3116891"/>
            <a:ext cx="1" cy="992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FEE83A60-E686-FDBC-F9E6-879041E75558}"/>
              </a:ext>
            </a:extLst>
          </p:cNvPr>
          <p:cNvCxnSpPr>
            <a:cxnSpLocks/>
          </p:cNvCxnSpPr>
          <p:nvPr/>
        </p:nvCxnSpPr>
        <p:spPr>
          <a:xfrm>
            <a:off x="2491487" y="2010736"/>
            <a:ext cx="880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F32D7516-8516-C448-9ED9-60A5FABC114C}"/>
              </a:ext>
            </a:extLst>
          </p:cNvPr>
          <p:cNvCxnSpPr>
            <a:stCxn id="14" idx="3"/>
          </p:cNvCxnSpPr>
          <p:nvPr/>
        </p:nvCxnSpPr>
        <p:spPr>
          <a:xfrm>
            <a:off x="8642310" y="1967930"/>
            <a:ext cx="9244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2265773F-A842-FFBF-CF72-A3065E9F0471}"/>
              </a:ext>
            </a:extLst>
          </p:cNvPr>
          <p:cNvCxnSpPr/>
          <p:nvPr/>
        </p:nvCxnSpPr>
        <p:spPr>
          <a:xfrm>
            <a:off x="11395587" y="2137207"/>
            <a:ext cx="4719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EEE8AFF7-60E8-7768-3511-F6E83A201D69}"/>
              </a:ext>
            </a:extLst>
          </p:cNvPr>
          <p:cNvCxnSpPr/>
          <p:nvPr/>
        </p:nvCxnSpPr>
        <p:spPr>
          <a:xfrm flipH="1">
            <a:off x="11395587" y="3923071"/>
            <a:ext cx="4817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F90B61F2-6BFA-D5CD-A0AF-6CD2F6E02810}"/>
              </a:ext>
            </a:extLst>
          </p:cNvPr>
          <p:cNvCxnSpPr/>
          <p:nvPr/>
        </p:nvCxnSpPr>
        <p:spPr>
          <a:xfrm>
            <a:off x="11395587" y="5482106"/>
            <a:ext cx="4719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C4D42B2A-03FF-127C-3AE7-E450DA8F89D8}"/>
              </a:ext>
            </a:extLst>
          </p:cNvPr>
          <p:cNvSpPr txBox="1"/>
          <p:nvPr/>
        </p:nvSpPr>
        <p:spPr>
          <a:xfrm>
            <a:off x="11438476" y="1814041"/>
            <a:ext cx="699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Read</a:t>
            </a:r>
          </a:p>
          <a:p>
            <a:r>
              <a:rPr lang="it-IT" dirty="0"/>
              <a:t>data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FDBD1C20-E673-D303-A76C-90D17D901A89}"/>
              </a:ext>
            </a:extLst>
          </p:cNvPr>
          <p:cNvSpPr txBox="1"/>
          <p:nvPr/>
        </p:nvSpPr>
        <p:spPr>
          <a:xfrm>
            <a:off x="11354318" y="3609415"/>
            <a:ext cx="867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Read</a:t>
            </a:r>
          </a:p>
          <a:p>
            <a:r>
              <a:rPr lang="it-IT" dirty="0" err="1"/>
              <a:t>enable</a:t>
            </a:r>
            <a:endParaRPr lang="it-IT" dirty="0"/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E1DB4B0C-02BE-B360-DA3D-2CD57D589B02}"/>
              </a:ext>
            </a:extLst>
          </p:cNvPr>
          <p:cNvSpPr txBox="1"/>
          <p:nvPr/>
        </p:nvSpPr>
        <p:spPr>
          <a:xfrm>
            <a:off x="11379655" y="503411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Empty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66904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09DF52-2D9F-59CD-EB07-A3E051356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568" y="4903121"/>
            <a:ext cx="9426678" cy="661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decouples event processing times from acquisition times</a:t>
            </a:r>
            <a:endParaRPr lang="it-IT" sz="200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A54C0E4-AB47-35A8-1919-2F1123CC05DD}"/>
              </a:ext>
            </a:extLst>
          </p:cNvPr>
          <p:cNvSpPr/>
          <p:nvPr/>
        </p:nvSpPr>
        <p:spPr>
          <a:xfrm>
            <a:off x="1976284" y="3057832"/>
            <a:ext cx="2428568" cy="1150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Sensor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B56F626-590F-6999-E26E-D3B4FE4E6FE6}"/>
              </a:ext>
            </a:extLst>
          </p:cNvPr>
          <p:cNvSpPr/>
          <p:nvPr/>
        </p:nvSpPr>
        <p:spPr>
          <a:xfrm>
            <a:off x="5358581" y="3342968"/>
            <a:ext cx="1976284" cy="661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FIFO</a:t>
            </a:r>
          </a:p>
        </p:txBody>
      </p:sp>
      <p:sp>
        <p:nvSpPr>
          <p:cNvPr id="6" name="Bolla: nuvola 5">
            <a:extLst>
              <a:ext uri="{FF2B5EF4-FFF2-40B4-BE49-F238E27FC236}">
                <a16:creationId xmlns:a16="http://schemas.microsoft.com/office/drawing/2014/main" id="{CB077203-1FFB-5428-9D30-2296EC016BFE}"/>
              </a:ext>
            </a:extLst>
          </p:cNvPr>
          <p:cNvSpPr/>
          <p:nvPr/>
        </p:nvSpPr>
        <p:spPr>
          <a:xfrm>
            <a:off x="8445910" y="2907020"/>
            <a:ext cx="2871020" cy="1533832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DAQ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760A1E8-1AEE-A2BA-F0FD-D99437980B3B}"/>
              </a:ext>
            </a:extLst>
          </p:cNvPr>
          <p:cNvCxnSpPr/>
          <p:nvPr/>
        </p:nvCxnSpPr>
        <p:spPr>
          <a:xfrm>
            <a:off x="7551174" y="3673936"/>
            <a:ext cx="707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BBA34C0D-39DF-5321-0C3D-E68393B1CAD5}"/>
              </a:ext>
            </a:extLst>
          </p:cNvPr>
          <p:cNvCxnSpPr/>
          <p:nvPr/>
        </p:nvCxnSpPr>
        <p:spPr>
          <a:xfrm>
            <a:off x="4591665" y="3633019"/>
            <a:ext cx="6194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C0127EA4-D266-5347-0CFC-19CCD78AE600}"/>
              </a:ext>
            </a:extLst>
          </p:cNvPr>
          <p:cNvCxnSpPr/>
          <p:nvPr/>
        </p:nvCxnSpPr>
        <p:spPr>
          <a:xfrm>
            <a:off x="6346723" y="4208206"/>
            <a:ext cx="0" cy="540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FD7F477-5599-5C3F-F87C-DCD50DA33F73}"/>
              </a:ext>
            </a:extLst>
          </p:cNvPr>
          <p:cNvSpPr txBox="1"/>
          <p:nvPr/>
        </p:nvSpPr>
        <p:spPr>
          <a:xfrm>
            <a:off x="3048000" y="9236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-FIFO EMPTY                  </a:t>
            </a:r>
            <a:r>
              <a:rPr lang="it-IT" dirty="0" err="1"/>
              <a:t>wrPtr</a:t>
            </a:r>
            <a:r>
              <a:rPr lang="it-IT" dirty="0"/>
              <a:t> = </a:t>
            </a:r>
            <a:r>
              <a:rPr lang="it-IT" dirty="0" err="1"/>
              <a:t>RdPtr</a:t>
            </a: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E4913F4-84B5-E948-7EFC-EBFCE4C34758}"/>
              </a:ext>
            </a:extLst>
          </p:cNvPr>
          <p:cNvSpPr txBox="1"/>
          <p:nvPr/>
        </p:nvSpPr>
        <p:spPr>
          <a:xfrm>
            <a:off x="3115268" y="1455734"/>
            <a:ext cx="1289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-FIFO FULL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021B5E0A-273F-6B05-8D8D-EADCA8EB6ED3}"/>
              </a:ext>
            </a:extLst>
          </p:cNvPr>
          <p:cNvCxnSpPr>
            <a:cxnSpLocks/>
          </p:cNvCxnSpPr>
          <p:nvPr/>
        </p:nvCxnSpPr>
        <p:spPr>
          <a:xfrm flipV="1">
            <a:off x="6840070" y="1554300"/>
            <a:ext cx="231738" cy="196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8D01AE63-BA5A-EBC6-51ED-28EB0C9C84BD}"/>
              </a:ext>
            </a:extLst>
          </p:cNvPr>
          <p:cNvCxnSpPr>
            <a:cxnSpLocks/>
          </p:cNvCxnSpPr>
          <p:nvPr/>
        </p:nvCxnSpPr>
        <p:spPr>
          <a:xfrm>
            <a:off x="6840070" y="1825859"/>
            <a:ext cx="231738" cy="166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3CCE25F-6E86-DDF4-A215-C1EC08260F2A}"/>
              </a:ext>
            </a:extLst>
          </p:cNvPr>
          <p:cNvSpPr txBox="1"/>
          <p:nvPr/>
        </p:nvSpPr>
        <p:spPr>
          <a:xfrm>
            <a:off x="5211097" y="1409135"/>
            <a:ext cx="1575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Never</a:t>
            </a:r>
            <a:r>
              <a:rPr lang="it-IT" dirty="0"/>
              <a:t> </a:t>
            </a:r>
            <a:r>
              <a:rPr lang="it-IT" dirty="0" err="1"/>
              <a:t>happen</a:t>
            </a:r>
            <a:endParaRPr lang="it-IT" dirty="0"/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E4AAEC09-8BC8-1043-DDD9-499EDC76512B}"/>
              </a:ext>
            </a:extLst>
          </p:cNvPr>
          <p:cNvCxnSpPr/>
          <p:nvPr/>
        </p:nvCxnSpPr>
        <p:spPr>
          <a:xfrm>
            <a:off x="4585155" y="1715509"/>
            <a:ext cx="4031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136ADBF5-1B09-05F3-2ACD-936BA6AEB092}"/>
              </a:ext>
            </a:extLst>
          </p:cNvPr>
          <p:cNvSpPr txBox="1"/>
          <p:nvPr/>
        </p:nvSpPr>
        <p:spPr>
          <a:xfrm>
            <a:off x="7179403" y="1358593"/>
            <a:ext cx="2989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slow data processing speed 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6FDB645-1972-402C-7C86-AFB3447CB310}"/>
              </a:ext>
            </a:extLst>
          </p:cNvPr>
          <p:cNvSpPr txBox="1"/>
          <p:nvPr/>
        </p:nvSpPr>
        <p:spPr>
          <a:xfrm>
            <a:off x="7179403" y="1825859"/>
            <a:ext cx="308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incorrect sizing of depth FIFO</a:t>
            </a:r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92E7BEA-3E84-1F95-98E4-0476647F6A23}"/>
              </a:ext>
            </a:extLst>
          </p:cNvPr>
          <p:cNvSpPr txBox="1"/>
          <p:nvPr/>
        </p:nvSpPr>
        <p:spPr>
          <a:xfrm>
            <a:off x="4786716" y="2228187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FREEZE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C05D9E2-38D6-AE97-DB27-841E21047094}"/>
              </a:ext>
            </a:extLst>
          </p:cNvPr>
          <p:cNvSpPr txBox="1"/>
          <p:nvPr/>
        </p:nvSpPr>
        <p:spPr>
          <a:xfrm>
            <a:off x="5902605" y="2235119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CIRCULAR BUFFER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4AADA8E7-0AEF-4E44-2154-46EDDAF5E214}"/>
              </a:ext>
            </a:extLst>
          </p:cNvPr>
          <p:cNvCxnSpPr>
            <a:cxnSpLocks/>
          </p:cNvCxnSpPr>
          <p:nvPr/>
        </p:nvCxnSpPr>
        <p:spPr>
          <a:xfrm>
            <a:off x="6254189" y="1889837"/>
            <a:ext cx="231738" cy="166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D2CD553-8D75-6BD8-C5E9-55AB27DB7FE2}"/>
              </a:ext>
            </a:extLst>
          </p:cNvPr>
          <p:cNvCxnSpPr>
            <a:cxnSpLocks/>
          </p:cNvCxnSpPr>
          <p:nvPr/>
        </p:nvCxnSpPr>
        <p:spPr>
          <a:xfrm flipH="1">
            <a:off x="5261365" y="1899634"/>
            <a:ext cx="173336" cy="232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639961C0-3E44-6833-44ED-AE4D9051F766}"/>
              </a:ext>
            </a:extLst>
          </p:cNvPr>
          <p:cNvCxnSpPr/>
          <p:nvPr/>
        </p:nvCxnSpPr>
        <p:spPr>
          <a:xfrm>
            <a:off x="4591665" y="1130490"/>
            <a:ext cx="4031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750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olo 1">
            <a:extLst>
              <a:ext uri="{FF2B5EF4-FFF2-40B4-BE49-F238E27FC236}">
                <a16:creationId xmlns:a16="http://schemas.microsoft.com/office/drawing/2014/main" id="{5B9FDF46-F64C-7738-29B8-278248568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Choice of depth</a:t>
            </a:r>
            <a:endParaRPr lang="it-IT" dirty="0"/>
          </a:p>
        </p:txBody>
      </p:sp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0290625A-20EA-A4AB-D8E1-9E60CD02F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choice of depth is a compromise between:</a:t>
            </a:r>
          </a:p>
          <a:p>
            <a:r>
              <a:rPr lang="en-US" sz="2000" dirty="0"/>
              <a:t>Maximum clock frequency: 100 MHz  -&gt; 1 bit 10ns -&gt; 10 bit 100ns </a:t>
            </a:r>
          </a:p>
          <a:p>
            <a:r>
              <a:rPr lang="en-US" sz="2000" dirty="0"/>
              <a:t>Expected average event frequency</a:t>
            </a:r>
          </a:p>
          <a:p>
            <a:r>
              <a:rPr lang="en-US" sz="2000" dirty="0"/>
              <a:t>Power</a:t>
            </a:r>
            <a:endParaRPr lang="it-IT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5">
                <a:extLst>
                  <a:ext uri="{FF2B5EF4-FFF2-40B4-BE49-F238E27FC236}">
                    <a16:creationId xmlns:a16="http://schemas.microsoft.com/office/drawing/2014/main" id="{177978B0-04D7-AF43-C940-DA1DD187BF66}"/>
                  </a:ext>
                </a:extLst>
              </p:cNvPr>
              <p:cNvSpPr txBox="1"/>
              <p:nvPr/>
            </p:nvSpPr>
            <p:spPr>
              <a:xfrm>
                <a:off x="5637276" y="2971800"/>
                <a:ext cx="26563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2,3 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=2300 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𝑛𝑠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17" name="CasellaDiTesto 5">
                <a:extLst>
                  <a:ext uri="{FF2B5EF4-FFF2-40B4-BE49-F238E27FC236}">
                    <a16:creationId xmlns:a16="http://schemas.microsoft.com/office/drawing/2014/main" id="{177978B0-04D7-AF43-C940-DA1DD187B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276" y="2971800"/>
                <a:ext cx="2656332" cy="369332"/>
              </a:xfrm>
              <a:prstGeom prst="rect">
                <a:avLst/>
              </a:prstGeom>
              <a:blipFill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8">
            <a:extLst>
              <a:ext uri="{FF2B5EF4-FFF2-40B4-BE49-F238E27FC236}">
                <a16:creationId xmlns:a16="http://schemas.microsoft.com/office/drawing/2014/main" id="{2F6F20CC-8EB1-B6EB-C915-82AC2F833D59}"/>
              </a:ext>
            </a:extLst>
          </p:cNvPr>
          <p:cNvSpPr txBox="1"/>
          <p:nvPr/>
        </p:nvSpPr>
        <p:spPr>
          <a:xfrm>
            <a:off x="5568696" y="2582947"/>
            <a:ext cx="30267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50" dirty="0"/>
              <a:t>Per il</a:t>
            </a:r>
            <a:r>
              <a:rPr lang="it-IT" sz="1000" dirty="0"/>
              <a:t> reset </a:t>
            </a:r>
            <a:r>
              <a:rPr lang="it-IT" sz="1050" dirty="0"/>
              <a:t>metto10 bit a zero  in esadecimale 3FF</a:t>
            </a:r>
          </a:p>
        </p:txBody>
      </p:sp>
      <p:pic>
        <p:nvPicPr>
          <p:cNvPr id="19" name="Immagine 18" descr="Immagine che contiene schermata, Software multimediale, software&#10;&#10;Il contenuto generato dall'IA potrebbe non essere corretto.">
            <a:extLst>
              <a:ext uri="{FF2B5EF4-FFF2-40B4-BE49-F238E27FC236}">
                <a16:creationId xmlns:a16="http://schemas.microsoft.com/office/drawing/2014/main" id="{97019BEA-026F-3564-5F0E-AF1961CDB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8" y="3476069"/>
            <a:ext cx="9753600" cy="3152824"/>
          </a:xfrm>
          <a:prstGeom prst="rect">
            <a:avLst/>
          </a:prstGeom>
        </p:spPr>
      </p:pic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E74BBBF4-043F-56B9-C2A7-87D55731BE36}"/>
              </a:ext>
            </a:extLst>
          </p:cNvPr>
          <p:cNvCxnSpPr>
            <a:cxnSpLocks/>
          </p:cNvCxnSpPr>
          <p:nvPr/>
        </p:nvCxnSpPr>
        <p:spPr>
          <a:xfrm>
            <a:off x="3438607" y="4326280"/>
            <a:ext cx="29260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9188767-165B-D993-B6C9-C8317E85E542}"/>
              </a:ext>
            </a:extLst>
          </p:cNvPr>
          <p:cNvSpPr txBox="1"/>
          <p:nvPr/>
        </p:nvSpPr>
        <p:spPr>
          <a:xfrm>
            <a:off x="3296641" y="4011606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dirty="0">
                <a:solidFill>
                  <a:srgbClr val="FF0000"/>
                </a:solidFill>
              </a:rPr>
              <a:t>2300+100ns</a:t>
            </a:r>
          </a:p>
        </p:txBody>
      </p:sp>
    </p:spTree>
    <p:extLst>
      <p:ext uri="{BB962C8B-B14F-4D97-AF65-F5344CB8AC3E}">
        <p14:creationId xmlns:p14="http://schemas.microsoft.com/office/powerpoint/2010/main" val="1329315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Office PowerPoint</Application>
  <PresentationFormat>Widescreen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Helvetica</vt:lpstr>
      <vt:lpstr>Office Theme</vt:lpstr>
      <vt:lpstr>ADC Characterization</vt:lpstr>
      <vt:lpstr>Project flowchart</vt:lpstr>
      <vt:lpstr>SPI</vt:lpstr>
      <vt:lpstr>SPI FSM</vt:lpstr>
      <vt:lpstr>PowerPoint Presentation</vt:lpstr>
      <vt:lpstr>PowerPoint Presentation</vt:lpstr>
      <vt:lpstr>FIFO</vt:lpstr>
      <vt:lpstr>FIFO BLOCK DIAGRAM</vt:lpstr>
      <vt:lpstr>PowerPoint Presentation</vt:lpstr>
      <vt:lpstr>Choice of depth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Michela Conti</dc:creator>
  <cp:lastModifiedBy>Michela Conti</cp:lastModifiedBy>
  <cp:revision>18</cp:revision>
  <dcterms:created xsi:type="dcterms:W3CDTF">2026-01-30T15:22:33Z</dcterms:created>
  <dcterms:modified xsi:type="dcterms:W3CDTF">2026-02-03T06:11:06Z</dcterms:modified>
</cp:coreProperties>
</file>