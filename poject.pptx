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79F67-E2E7-4B3D-99CD-3FD02CF290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4CCCE3-1010-BC8C-3072-97D28BB07A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3DB34E-7FF9-4AFF-2C0C-3062BAD33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5A9CC-028A-4668-9402-8AF1101129FF}" type="datetimeFigureOut">
              <a:rPr lang="it-IT" smtClean="0"/>
              <a:t>01/02/2026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E52A08-E002-A888-3F78-08868C3AA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A21565-85D0-161D-5679-C7C886EF9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F40B5-F0D0-4F17-84D3-3EA483FF7AE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237571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115F4-7FFC-6941-A4C7-6A52D54BE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813650-A898-EDBA-3FBF-8DE00FA4C6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A9B414-C02B-E511-40DD-EAE8827FD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5A9CC-028A-4668-9402-8AF1101129FF}" type="datetimeFigureOut">
              <a:rPr lang="it-IT" smtClean="0"/>
              <a:t>01/02/2026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E0EF33-02DC-4939-05DC-E3919597C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548F8A-9998-BD82-EA16-6FA2205BA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F40B5-F0D0-4F17-84D3-3EA483FF7AE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443007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619DA-E8E1-9054-F2F6-3208F04E4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3C3A9C-E305-42B3-A6F9-BBE6A0D672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346F42-C422-CFB7-F540-378F0AF2F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5A9CC-028A-4668-9402-8AF1101129FF}" type="datetimeFigureOut">
              <a:rPr lang="it-IT" smtClean="0"/>
              <a:t>01/02/2026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429CC0-A068-CC43-7ADF-659C6DF86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748C12-2DC5-1C29-2A25-02FB754FE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F40B5-F0D0-4F17-84D3-3EA483FF7AE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730481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2E1B1-E939-3826-9BD8-8CAC87CA7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7FE90E-8DE0-C7D5-4C1B-7F97CFFBDF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9AFFB0-679D-039D-A7BA-19BED4EED7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2A0F75-FBDA-4A20-29D6-9CEAAD83C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5A9CC-028A-4668-9402-8AF1101129FF}" type="datetimeFigureOut">
              <a:rPr lang="it-IT" smtClean="0"/>
              <a:t>01/02/2026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DA88C1-8779-A6A9-1047-764F63B41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441500-46A1-4FF0-1C96-32FC8F1DD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F40B5-F0D0-4F17-84D3-3EA483FF7AE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134523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AC0CF-063F-8453-ABA0-EA6D9E7E5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31265E-D8DD-12D5-ABA3-7554976370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B02620-B462-E58B-CE08-62062CE813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FA8BC3-0E50-2A95-FA10-DCC6FA648B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D724C0-3B03-9635-028A-6751C7DFDA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E48061-B1CE-BB56-1774-7FA6877B5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5A9CC-028A-4668-9402-8AF1101129FF}" type="datetimeFigureOut">
              <a:rPr lang="it-IT" smtClean="0"/>
              <a:t>01/02/2026</a:t>
            </a:fld>
            <a:endParaRPr lang="it-I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C31615-D8EB-0239-4D4E-F06D5CD09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358947-FD3E-D4D1-BC4F-2FCA1349D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F40B5-F0D0-4F17-84D3-3EA483FF7AE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717772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B989F-7378-5532-CAFF-31B4ABBD0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4D6E55-C5E1-7326-F3DE-6934B734A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5A9CC-028A-4668-9402-8AF1101129FF}" type="datetimeFigureOut">
              <a:rPr lang="it-IT" smtClean="0"/>
              <a:t>01/02/2026</a:t>
            </a:fld>
            <a:endParaRPr lang="it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35BA77-E28E-6EE5-268E-09253A87E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23B8D4-6D87-59F3-4D9B-E99E908FD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F40B5-F0D0-4F17-84D3-3EA483FF7AE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223156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65FF4E-C051-B742-B340-0E849E989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5A9CC-028A-4668-9402-8AF1101129FF}" type="datetimeFigureOut">
              <a:rPr lang="it-IT" smtClean="0"/>
              <a:t>01/02/2026</a:t>
            </a:fld>
            <a:endParaRPr lang="it-I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C96A55-D4A2-FE86-1BBE-F19B6E2D9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8AC13F-2BCB-54CB-2BAB-371126612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F40B5-F0D0-4F17-84D3-3EA483FF7AE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98409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2E161-F06F-1769-C032-35E164BDF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9ECB37-EE86-2120-397A-6284C0D8C5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F6D02D-52F7-5969-7585-8E237EF37B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23E6FB-16BF-D935-201B-DB3DB257B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5A9CC-028A-4668-9402-8AF1101129FF}" type="datetimeFigureOut">
              <a:rPr lang="it-IT" smtClean="0"/>
              <a:t>01/02/2026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E69E8C-EF35-12C1-2786-2ED36B895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02D25E-75FE-F788-E2E7-D39560B04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F40B5-F0D0-4F17-84D3-3EA483FF7AE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737416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03D07-884D-4161-EDC9-E39ACA1FB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CDDC3C-B2A1-A6C7-2820-DD1FA9B199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BA7C9C-1307-28F5-170F-048B66A703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5C0428-26B7-B80E-3DC1-6980C5DE5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5A9CC-028A-4668-9402-8AF1101129FF}" type="datetimeFigureOut">
              <a:rPr lang="it-IT" smtClean="0"/>
              <a:t>01/02/2026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510FF2-AE4B-FE9D-360A-5BC02CA12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F50420-AE49-DF4B-3812-35A714365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F40B5-F0D0-4F17-84D3-3EA483FF7AE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261796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4800B-3C9E-CED8-153F-EBE6A9D8F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D92707-8A1F-1716-6905-9EED2B6FA5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E7FA2-624B-C562-CA34-C86C0D51A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5A9CC-028A-4668-9402-8AF1101129FF}" type="datetimeFigureOut">
              <a:rPr lang="it-IT" smtClean="0"/>
              <a:t>01/02/2026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524B13-3F89-8720-B6C7-ECAF03C43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13435A-0ECA-D4BF-0DB8-D5AADE87E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F40B5-F0D0-4F17-84D3-3EA483FF7AE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09654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D3D801-750B-DED7-BF51-4D6CC83F20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94FAB8-9203-E4C4-A451-D1179C611C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1408A6-BA42-6FFE-1786-BB67F5381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5A9CC-028A-4668-9402-8AF1101129FF}" type="datetimeFigureOut">
              <a:rPr lang="it-IT" smtClean="0"/>
              <a:t>01/02/2026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628FEE-961D-6CA5-545B-BDD25DAFE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A27250-237E-0FE8-8443-06F9B91F7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F40B5-F0D0-4F17-84D3-3EA483FF7AE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71435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67E434-2102-0BF0-3150-28BA44CB6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1E0BE9-419B-4074-7416-3F32703EDF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A972D6-F504-7612-77F5-6B9CF7E99D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A5A9CC-028A-4668-9402-8AF1101129FF}" type="datetimeFigureOut">
              <a:rPr lang="it-IT" smtClean="0"/>
              <a:t>01/02/2026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05820C-2F62-BB5D-7752-848AE884C6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9AE1D1-FD92-73A3-DD02-26E1A83C89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0F40B5-F0D0-4F17-84D3-3EA483FF7AE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11289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07E1B-F3D7-8324-C478-4323773691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5845" y="1956618"/>
            <a:ext cx="6440129" cy="1130557"/>
          </a:xfrm>
        </p:spPr>
        <p:txBody>
          <a:bodyPr>
            <a:normAutofit fontScale="90000"/>
          </a:bodyPr>
          <a:lstStyle/>
          <a:p>
            <a:r>
              <a:rPr lang="it-IT" dirty="0"/>
              <a:t>ADC </a:t>
            </a:r>
            <a:r>
              <a:rPr lang="it-IT" dirty="0" err="1"/>
              <a:t>Characterization</a:t>
            </a:r>
            <a:endParaRPr lang="it-IT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8660D9-F76E-8FC4-91AF-A5F5DE8CA6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5845" y="3697903"/>
            <a:ext cx="9144000" cy="1655762"/>
          </a:xfrm>
        </p:spPr>
        <p:txBody>
          <a:bodyPr>
            <a:normAutofit/>
          </a:bodyPr>
          <a:lstStyle/>
          <a:p>
            <a:pPr algn="l"/>
            <a:r>
              <a:rPr lang="it-IT" sz="1600" dirty="0"/>
              <a:t>Michela Conti</a:t>
            </a:r>
          </a:p>
          <a:p>
            <a:pPr algn="l"/>
            <a:r>
              <a:rPr lang="it-IT" sz="1600" dirty="0"/>
              <a:t>Maria Cristina Ragusa</a:t>
            </a:r>
          </a:p>
        </p:txBody>
      </p:sp>
    </p:spTree>
    <p:extLst>
      <p:ext uri="{BB962C8B-B14F-4D97-AF65-F5344CB8AC3E}">
        <p14:creationId xmlns:p14="http://schemas.microsoft.com/office/powerpoint/2010/main" val="3043255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Group 100">
            <a:extLst>
              <a:ext uri="{FF2B5EF4-FFF2-40B4-BE49-F238E27FC236}">
                <a16:creationId xmlns:a16="http://schemas.microsoft.com/office/drawing/2014/main" id="{4ECB977A-0BFA-36F8-EBB4-1EA8A29A68AA}"/>
              </a:ext>
            </a:extLst>
          </p:cNvPr>
          <p:cNvGrpSpPr/>
          <p:nvPr/>
        </p:nvGrpSpPr>
        <p:grpSpPr>
          <a:xfrm>
            <a:off x="418661" y="2396777"/>
            <a:ext cx="1654538" cy="1437054"/>
            <a:chOff x="355356" y="2377105"/>
            <a:chExt cx="1654538" cy="1437054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4FA284A0-00F0-313F-3A53-2B525BBEA4C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5356" y="2377105"/>
              <a:ext cx="1437054" cy="1437054"/>
            </a:xfrm>
            <a:prstGeom prst="rect">
              <a:avLst/>
            </a:prstGeom>
          </p:spPr>
        </p:pic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475D7DF8-DE18-F0A4-E0C2-C97EDC145987}"/>
                </a:ext>
              </a:extLst>
            </p:cNvPr>
            <p:cNvSpPr txBox="1"/>
            <p:nvPr/>
          </p:nvSpPr>
          <p:spPr>
            <a:xfrm>
              <a:off x="1473181" y="2842889"/>
              <a:ext cx="53671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200" dirty="0" err="1">
                  <a:latin typeface="Helvetica" panose="020B0604020202020204" pitchFamily="34" charset="0"/>
                  <a:cs typeface="Helvetica" panose="020B0604020202020204" pitchFamily="34" charset="0"/>
                </a:rPr>
                <a:t>Dout</a:t>
              </a:r>
              <a:endParaRPr lang="it-IT" sz="12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4EAF533E-561B-B2A3-906D-00447FE96B73}"/>
                </a:ext>
              </a:extLst>
            </p:cNvPr>
            <p:cNvSpPr txBox="1"/>
            <p:nvPr/>
          </p:nvSpPr>
          <p:spPr>
            <a:xfrm>
              <a:off x="1338051" y="2419266"/>
              <a:ext cx="62710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200" dirty="0">
                  <a:latin typeface="Helvetica" panose="020B0604020202020204" pitchFamily="34" charset="0"/>
                  <a:cs typeface="Helvetica" panose="020B0604020202020204" pitchFamily="34" charset="0"/>
                </a:rPr>
                <a:t>SCLK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EE632666-CC2A-4DB7-B5B1-67171D1C8DF0}"/>
                </a:ext>
              </a:extLst>
            </p:cNvPr>
            <p:cNvSpPr txBox="1"/>
            <p:nvPr/>
          </p:nvSpPr>
          <p:spPr>
            <a:xfrm>
              <a:off x="384807" y="2429452"/>
              <a:ext cx="92968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200" dirty="0">
                  <a:latin typeface="Helvetica" panose="020B0604020202020204" pitchFamily="34" charset="0"/>
                  <a:cs typeface="Helvetica" panose="020B0604020202020204" pitchFamily="34" charset="0"/>
                </a:rPr>
                <a:t>CONVST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F82D419-F249-5778-33F8-4DDFCA04D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Project flowchart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66818B6-2BCB-AC46-441B-78E8BAE8CB2D}"/>
              </a:ext>
            </a:extLst>
          </p:cNvPr>
          <p:cNvGrpSpPr/>
          <p:nvPr/>
        </p:nvGrpSpPr>
        <p:grpSpPr>
          <a:xfrm>
            <a:off x="2122257" y="2323628"/>
            <a:ext cx="2022879" cy="1735016"/>
            <a:chOff x="4071814" y="2915138"/>
            <a:chExt cx="2022879" cy="173501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B0DF915-CF20-EA21-B489-CDBD453F0636}"/>
                </a:ext>
              </a:extLst>
            </p:cNvPr>
            <p:cNvSpPr/>
            <p:nvPr/>
          </p:nvSpPr>
          <p:spPr>
            <a:xfrm>
              <a:off x="4071815" y="2915138"/>
              <a:ext cx="1953847" cy="173501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9A519E4-920B-3B4C-5381-3E80DBD5DDC5}"/>
                </a:ext>
              </a:extLst>
            </p:cNvPr>
            <p:cNvSpPr txBox="1"/>
            <p:nvPr/>
          </p:nvSpPr>
          <p:spPr>
            <a:xfrm>
              <a:off x="4095372" y="2927125"/>
              <a:ext cx="191169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400" dirty="0">
                  <a:latin typeface="Helvetica" panose="020B0604020202020204" pitchFamily="34" charset="0"/>
                  <a:cs typeface="Helvetica" panose="020B0604020202020204" pitchFamily="34" charset="0"/>
                </a:rPr>
                <a:t>SPI_master_AD7810</a:t>
              </a:r>
            </a:p>
          </p:txBody>
        </p:sp>
        <p:sp>
          <p:nvSpPr>
            <p:cNvPr id="12" name="Isosceles Triangle 11">
              <a:extLst>
                <a:ext uri="{FF2B5EF4-FFF2-40B4-BE49-F238E27FC236}">
                  <a16:creationId xmlns:a16="http://schemas.microsoft.com/office/drawing/2014/main" id="{41EEA4B9-C80C-AD1A-303C-D6F42D372D71}"/>
                </a:ext>
              </a:extLst>
            </p:cNvPr>
            <p:cNvSpPr/>
            <p:nvPr/>
          </p:nvSpPr>
          <p:spPr>
            <a:xfrm rot="5400000">
              <a:off x="4045487" y="4258990"/>
              <a:ext cx="275670" cy="223016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3ADF475-9B62-671B-C657-6E702D5AD3DC}"/>
                </a:ext>
              </a:extLst>
            </p:cNvPr>
            <p:cNvSpPr txBox="1"/>
            <p:nvPr/>
          </p:nvSpPr>
          <p:spPr>
            <a:xfrm>
              <a:off x="4276697" y="4231334"/>
              <a:ext cx="40108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200" dirty="0" err="1">
                  <a:latin typeface="Helvetica" panose="020B0604020202020204" pitchFamily="34" charset="0"/>
                  <a:cs typeface="Helvetica" panose="020B0604020202020204" pitchFamily="34" charset="0"/>
                </a:rPr>
                <a:t>clk</a:t>
              </a:r>
              <a:endParaRPr lang="it-IT" sz="12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0CA7811-EE49-C2FD-5AC5-D25736AE59F8}"/>
                </a:ext>
              </a:extLst>
            </p:cNvPr>
            <p:cNvSpPr txBox="1"/>
            <p:nvPr/>
          </p:nvSpPr>
          <p:spPr>
            <a:xfrm>
              <a:off x="4071814" y="3548078"/>
              <a:ext cx="5830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200" dirty="0">
                  <a:latin typeface="Helvetica" panose="020B0604020202020204" pitchFamily="34" charset="0"/>
                  <a:cs typeface="Helvetica" panose="020B0604020202020204" pitchFamily="34" charset="0"/>
                </a:rPr>
                <a:t>MISO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083CB10-B1EF-19DD-7414-2172ECB9E775}"/>
                </a:ext>
              </a:extLst>
            </p:cNvPr>
            <p:cNvSpPr txBox="1"/>
            <p:nvPr/>
          </p:nvSpPr>
          <p:spPr>
            <a:xfrm>
              <a:off x="5178134" y="3369839"/>
              <a:ext cx="916559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200" dirty="0" err="1">
                  <a:latin typeface="Helvetica" panose="020B0604020202020204" pitchFamily="34" charset="0"/>
                  <a:cs typeface="Helvetica" panose="020B0604020202020204" pitchFamily="34" charset="0"/>
                </a:rPr>
                <a:t>sclk</a:t>
              </a:r>
              <a:endParaRPr lang="it-IT" sz="12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  <a:p>
              <a:r>
                <a:rPr lang="it-IT" sz="1200" dirty="0" err="1">
                  <a:latin typeface="Helvetica" panose="020B0604020202020204" pitchFamily="34" charset="0"/>
                  <a:cs typeface="Helvetica" panose="020B0604020202020204" pitchFamily="34" charset="0"/>
                </a:rPr>
                <a:t>ss</a:t>
              </a:r>
              <a:endParaRPr lang="it-IT" sz="12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  <a:p>
              <a:r>
                <a:rPr lang="it-IT" sz="1200" dirty="0" err="1">
                  <a:latin typeface="Helvetica" panose="020B0604020202020204" pitchFamily="34" charset="0"/>
                  <a:cs typeface="Helvetica" panose="020B0604020202020204" pitchFamily="34" charset="0"/>
                </a:rPr>
                <a:t>D_en</a:t>
              </a:r>
              <a:endParaRPr lang="it-IT" sz="12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  <a:p>
              <a:r>
                <a:rPr lang="it-IT" sz="1200" dirty="0" err="1">
                  <a:latin typeface="Helvetica" panose="020B0604020202020204" pitchFamily="34" charset="0"/>
                  <a:cs typeface="Helvetica" panose="020B0604020202020204" pitchFamily="34" charset="0"/>
                </a:rPr>
                <a:t>ADC_dout</a:t>
              </a:r>
              <a:endParaRPr lang="it-IT" sz="12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72081FE-AC96-BC33-CD9D-B6A98F0132EC}"/>
              </a:ext>
            </a:extLst>
          </p:cNvPr>
          <p:cNvGrpSpPr/>
          <p:nvPr/>
        </p:nvGrpSpPr>
        <p:grpSpPr>
          <a:xfrm>
            <a:off x="4580749" y="2335615"/>
            <a:ext cx="2213714" cy="1735016"/>
            <a:chOff x="4071814" y="2915138"/>
            <a:chExt cx="2213714" cy="1735016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09E34E0-3DA9-BEE9-3273-87238E7EB64F}"/>
                </a:ext>
              </a:extLst>
            </p:cNvPr>
            <p:cNvSpPr/>
            <p:nvPr/>
          </p:nvSpPr>
          <p:spPr>
            <a:xfrm>
              <a:off x="4071815" y="2915138"/>
              <a:ext cx="1953847" cy="173501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B0056FF-BF74-649B-8ECF-9513EADB9078}"/>
                </a:ext>
              </a:extLst>
            </p:cNvPr>
            <p:cNvSpPr txBox="1"/>
            <p:nvPr/>
          </p:nvSpPr>
          <p:spPr>
            <a:xfrm>
              <a:off x="4095372" y="2927125"/>
              <a:ext cx="191169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400" dirty="0">
                  <a:latin typeface="Helvetica" panose="020B0604020202020204" pitchFamily="34" charset="0"/>
                  <a:cs typeface="Helvetica" panose="020B0604020202020204" pitchFamily="34" charset="0"/>
                </a:rPr>
                <a:t>FIFOwidth10_depth?</a:t>
              </a:r>
            </a:p>
          </p:txBody>
        </p:sp>
        <p:sp>
          <p:nvSpPr>
            <p:cNvPr id="28" name="Isosceles Triangle 27">
              <a:extLst>
                <a:ext uri="{FF2B5EF4-FFF2-40B4-BE49-F238E27FC236}">
                  <a16:creationId xmlns:a16="http://schemas.microsoft.com/office/drawing/2014/main" id="{F68C870B-0607-2BB2-FACD-DE63C9AFD38A}"/>
                </a:ext>
              </a:extLst>
            </p:cNvPr>
            <p:cNvSpPr/>
            <p:nvPr/>
          </p:nvSpPr>
          <p:spPr>
            <a:xfrm rot="5400000">
              <a:off x="4045487" y="4258990"/>
              <a:ext cx="275670" cy="223016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C96A81F5-9E86-9B2C-93E7-06E980C40A6A}"/>
                </a:ext>
              </a:extLst>
            </p:cNvPr>
            <p:cNvSpPr txBox="1"/>
            <p:nvPr/>
          </p:nvSpPr>
          <p:spPr>
            <a:xfrm>
              <a:off x="4276697" y="4231334"/>
              <a:ext cx="40108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200" dirty="0" err="1">
                  <a:latin typeface="Helvetica" panose="020B0604020202020204" pitchFamily="34" charset="0"/>
                  <a:cs typeface="Helvetica" panose="020B0604020202020204" pitchFamily="34" charset="0"/>
                </a:rPr>
                <a:t>clk</a:t>
              </a:r>
              <a:endParaRPr lang="it-IT" sz="12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C15D0EFA-50D7-5083-C3A9-C349660115D9}"/>
                </a:ext>
              </a:extLst>
            </p:cNvPr>
            <p:cNvSpPr txBox="1"/>
            <p:nvPr/>
          </p:nvSpPr>
          <p:spPr>
            <a:xfrm>
              <a:off x="4086436" y="3699411"/>
              <a:ext cx="84005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200" dirty="0" err="1">
                  <a:latin typeface="Helvetica" panose="020B0604020202020204" pitchFamily="34" charset="0"/>
                  <a:cs typeface="Helvetica" panose="020B0604020202020204" pitchFamily="34" charset="0"/>
                </a:rPr>
                <a:t>wr_en</a:t>
              </a:r>
              <a:endParaRPr lang="it-IT" sz="12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  <a:p>
              <a:r>
                <a:rPr lang="it-IT" sz="1200" dirty="0" err="1">
                  <a:latin typeface="Helvetica" panose="020B0604020202020204" pitchFamily="34" charset="0"/>
                  <a:cs typeface="Helvetica" panose="020B0604020202020204" pitchFamily="34" charset="0"/>
                </a:rPr>
                <a:t>w_data</a:t>
              </a:r>
              <a:endParaRPr lang="it-IT" sz="12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7AB6D6EE-7965-280C-B5A9-823B4DF8956C}"/>
                </a:ext>
              </a:extLst>
            </p:cNvPr>
            <p:cNvSpPr txBox="1"/>
            <p:nvPr/>
          </p:nvSpPr>
          <p:spPr>
            <a:xfrm>
              <a:off x="5368969" y="3369839"/>
              <a:ext cx="916559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200" dirty="0" err="1">
                  <a:latin typeface="Helvetica" panose="020B0604020202020204" pitchFamily="34" charset="0"/>
                  <a:cs typeface="Helvetica" panose="020B0604020202020204" pitchFamily="34" charset="0"/>
                </a:rPr>
                <a:t>r_data</a:t>
              </a:r>
              <a:endParaRPr lang="it-IT" sz="12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  <a:p>
              <a:r>
                <a:rPr lang="it-IT" sz="1200" dirty="0" err="1">
                  <a:latin typeface="Helvetica" panose="020B0604020202020204" pitchFamily="34" charset="0"/>
                  <a:cs typeface="Helvetica" panose="020B0604020202020204" pitchFamily="34" charset="0"/>
                </a:rPr>
                <a:t>rd_en</a:t>
              </a:r>
              <a:endParaRPr lang="it-IT" sz="12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  <a:p>
              <a:r>
                <a:rPr lang="it-IT" sz="1200" dirty="0">
                  <a:latin typeface="Helvetica" panose="020B0604020202020204" pitchFamily="34" charset="0"/>
                  <a:cs typeface="Helvetica" panose="020B0604020202020204" pitchFamily="34" charset="0"/>
                </a:rPr>
                <a:t>full</a:t>
              </a:r>
            </a:p>
            <a:p>
              <a:r>
                <a:rPr lang="it-IT" sz="1200" dirty="0" err="1">
                  <a:latin typeface="Helvetica" panose="020B0604020202020204" pitchFamily="34" charset="0"/>
                  <a:cs typeface="Helvetica" panose="020B0604020202020204" pitchFamily="34" charset="0"/>
                </a:rPr>
                <a:t>empty</a:t>
              </a:r>
              <a:endParaRPr lang="it-IT" sz="12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</p:grp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C2C92C1-33CE-D531-2D52-53CCBA7FC838}"/>
              </a:ext>
            </a:extLst>
          </p:cNvPr>
          <p:cNvCxnSpPr>
            <a:cxnSpLocks/>
          </p:cNvCxnSpPr>
          <p:nvPr/>
        </p:nvCxnSpPr>
        <p:spPr>
          <a:xfrm>
            <a:off x="4076105" y="3275936"/>
            <a:ext cx="504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1B0094B-C6A5-E1C9-DDBC-85615A217955}"/>
              </a:ext>
            </a:extLst>
          </p:cNvPr>
          <p:cNvCxnSpPr>
            <a:cxnSpLocks/>
          </p:cNvCxnSpPr>
          <p:nvPr/>
        </p:nvCxnSpPr>
        <p:spPr>
          <a:xfrm>
            <a:off x="4076105" y="3464118"/>
            <a:ext cx="504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B386410-07CC-B335-B920-1681EBC0A34F}"/>
              </a:ext>
            </a:extLst>
          </p:cNvPr>
          <p:cNvCxnSpPr>
            <a:cxnSpLocks/>
          </p:cNvCxnSpPr>
          <p:nvPr/>
        </p:nvCxnSpPr>
        <p:spPr>
          <a:xfrm flipV="1">
            <a:off x="4267112" y="3402496"/>
            <a:ext cx="95508" cy="1232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18EC0E9A-EF7B-1A01-A7DB-65B009114524}"/>
              </a:ext>
            </a:extLst>
          </p:cNvPr>
          <p:cNvSpPr txBox="1"/>
          <p:nvPr/>
        </p:nvSpPr>
        <p:spPr>
          <a:xfrm>
            <a:off x="4090726" y="3450748"/>
            <a:ext cx="4576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>
                <a:latin typeface="Helvetica" panose="020B0604020202020204" pitchFamily="34" charset="0"/>
                <a:cs typeface="Helvetica" panose="020B0604020202020204" pitchFamily="34" charset="0"/>
              </a:rPr>
              <a:t>[9:0]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08F8B9A9-7197-57E3-FAB7-64A05AC34298}"/>
              </a:ext>
            </a:extLst>
          </p:cNvPr>
          <p:cNvCxnSpPr>
            <a:cxnSpLocks/>
            <a:stCxn id="46" idx="2"/>
          </p:cNvCxnSpPr>
          <p:nvPr/>
        </p:nvCxnSpPr>
        <p:spPr>
          <a:xfrm flipV="1">
            <a:off x="1804843" y="3098560"/>
            <a:ext cx="332285" cy="41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6" name="Group 55">
            <a:extLst>
              <a:ext uri="{FF2B5EF4-FFF2-40B4-BE49-F238E27FC236}">
                <a16:creationId xmlns:a16="http://schemas.microsoft.com/office/drawing/2014/main" id="{E6CF8C2B-0C73-0313-ED62-AAA49C1E5A71}"/>
              </a:ext>
            </a:extLst>
          </p:cNvPr>
          <p:cNvGrpSpPr/>
          <p:nvPr/>
        </p:nvGrpSpPr>
        <p:grpSpPr>
          <a:xfrm>
            <a:off x="1431293" y="2111073"/>
            <a:ext cx="2918416" cy="815009"/>
            <a:chOff x="1729409" y="2111071"/>
            <a:chExt cx="3776211" cy="724657"/>
          </a:xfrm>
        </p:grpSpPr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A3A19E2B-4998-A66F-0201-5F9D98BBCC8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46187" y="2826407"/>
              <a:ext cx="359433" cy="932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2B0F05E0-35D3-E41D-1C66-7D7E5B0747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89603" y="2111071"/>
              <a:ext cx="1" cy="71533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837EB8E8-F159-501D-C065-3BAC5F218FB2}"/>
                </a:ext>
              </a:extLst>
            </p:cNvPr>
            <p:cNvCxnSpPr>
              <a:cxnSpLocks/>
            </p:cNvCxnSpPr>
            <p:nvPr/>
          </p:nvCxnSpPr>
          <p:spPr>
            <a:xfrm>
              <a:off x="1729409" y="2114310"/>
              <a:ext cx="377621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7E77F8E6-EC68-A3DB-4C96-B55A53AA3F7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29409" y="2111071"/>
              <a:ext cx="0" cy="53780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FE094A37-B957-1F14-6B31-0E28D6999F65}"/>
              </a:ext>
            </a:extLst>
          </p:cNvPr>
          <p:cNvGrpSpPr/>
          <p:nvPr/>
        </p:nvGrpSpPr>
        <p:grpSpPr>
          <a:xfrm>
            <a:off x="1266979" y="1953483"/>
            <a:ext cx="3281388" cy="1152830"/>
            <a:chOff x="1729409" y="2111071"/>
            <a:chExt cx="3776211" cy="815009"/>
          </a:xfrm>
        </p:grpSpPr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CAFB8A02-55D5-3D27-D914-546EF675E756}"/>
                </a:ext>
              </a:extLst>
            </p:cNvPr>
            <p:cNvCxnSpPr>
              <a:cxnSpLocks/>
            </p:cNvCxnSpPr>
            <p:nvPr/>
          </p:nvCxnSpPr>
          <p:spPr>
            <a:xfrm>
              <a:off x="4962142" y="2911169"/>
              <a:ext cx="508963" cy="1491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2C0AF78C-ACE9-53E8-78ED-5F5ABB0D48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71105" y="2111071"/>
              <a:ext cx="18499" cy="81500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787F23E7-6A67-BB28-8ADD-9888A66EED30}"/>
                </a:ext>
              </a:extLst>
            </p:cNvPr>
            <p:cNvCxnSpPr>
              <a:cxnSpLocks/>
            </p:cNvCxnSpPr>
            <p:nvPr/>
          </p:nvCxnSpPr>
          <p:spPr>
            <a:xfrm>
              <a:off x="1729409" y="2114310"/>
              <a:ext cx="377621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0BC4EC15-88D8-30E6-24DA-A8138AE6628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29409" y="2111071"/>
              <a:ext cx="0" cy="53232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FB749F0D-D800-6C34-5D9E-A05F47EE76FD}"/>
              </a:ext>
            </a:extLst>
          </p:cNvPr>
          <p:cNvGrpSpPr/>
          <p:nvPr/>
        </p:nvGrpSpPr>
        <p:grpSpPr>
          <a:xfrm>
            <a:off x="6860868" y="2323628"/>
            <a:ext cx="2444903" cy="1735016"/>
            <a:chOff x="4071814" y="2915138"/>
            <a:chExt cx="2444903" cy="1735016"/>
          </a:xfrm>
        </p:grpSpPr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B4DC486A-7B24-3F90-1167-B5ED375C50FF}"/>
                </a:ext>
              </a:extLst>
            </p:cNvPr>
            <p:cNvSpPr/>
            <p:nvPr/>
          </p:nvSpPr>
          <p:spPr>
            <a:xfrm>
              <a:off x="4071814" y="2915138"/>
              <a:ext cx="2254059" cy="173501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6C9671B2-57DF-28CE-ABBA-DEB0CC5C4476}"/>
                </a:ext>
              </a:extLst>
            </p:cNvPr>
            <p:cNvSpPr txBox="1"/>
            <p:nvPr/>
          </p:nvSpPr>
          <p:spPr>
            <a:xfrm>
              <a:off x="4378642" y="2920241"/>
              <a:ext cx="132405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1400" dirty="0" err="1">
                  <a:latin typeface="Helvetica" panose="020B0604020202020204" pitchFamily="34" charset="0"/>
                  <a:cs typeface="Helvetica" panose="020B0604020202020204" pitchFamily="34" charset="0"/>
                </a:rPr>
                <a:t>Histogrammer</a:t>
              </a:r>
              <a:endParaRPr lang="it-IT" sz="14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70" name="Isosceles Triangle 69">
              <a:extLst>
                <a:ext uri="{FF2B5EF4-FFF2-40B4-BE49-F238E27FC236}">
                  <a16:creationId xmlns:a16="http://schemas.microsoft.com/office/drawing/2014/main" id="{E0EBD148-4CF6-5E26-750C-0EFD3F00527B}"/>
                </a:ext>
              </a:extLst>
            </p:cNvPr>
            <p:cNvSpPr/>
            <p:nvPr/>
          </p:nvSpPr>
          <p:spPr>
            <a:xfrm rot="5400000">
              <a:off x="4045487" y="4258990"/>
              <a:ext cx="275670" cy="223016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24459AC7-B7EF-723F-2E88-63ACDB7EC892}"/>
                </a:ext>
              </a:extLst>
            </p:cNvPr>
            <p:cNvSpPr txBox="1"/>
            <p:nvPr/>
          </p:nvSpPr>
          <p:spPr>
            <a:xfrm>
              <a:off x="4276697" y="4231334"/>
              <a:ext cx="40108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200" dirty="0" err="1">
                  <a:latin typeface="Helvetica" panose="020B0604020202020204" pitchFamily="34" charset="0"/>
                  <a:cs typeface="Helvetica" panose="020B0604020202020204" pitchFamily="34" charset="0"/>
                </a:rPr>
                <a:t>clk</a:t>
              </a:r>
              <a:endParaRPr lang="it-IT" sz="12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DFC6507F-1FA9-855E-3A9A-2A0F338C85C3}"/>
                </a:ext>
              </a:extLst>
            </p:cNvPr>
            <p:cNvSpPr txBox="1"/>
            <p:nvPr/>
          </p:nvSpPr>
          <p:spPr>
            <a:xfrm>
              <a:off x="4086436" y="3377382"/>
              <a:ext cx="129190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200" dirty="0" err="1">
                  <a:latin typeface="Helvetica" panose="020B0604020202020204" pitchFamily="34" charset="0"/>
                  <a:cs typeface="Helvetica" panose="020B0604020202020204" pitchFamily="34" charset="0"/>
                </a:rPr>
                <a:t>ram_adr</a:t>
              </a:r>
              <a:endParaRPr lang="it-IT" sz="12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  <a:p>
              <a:r>
                <a:rPr lang="it-IT" sz="1200" dirty="0" err="1">
                  <a:latin typeface="Helvetica" panose="020B0604020202020204" pitchFamily="34" charset="0"/>
                  <a:cs typeface="Helvetica" panose="020B0604020202020204" pitchFamily="34" charset="0"/>
                </a:rPr>
                <a:t>rd_en</a:t>
              </a:r>
              <a:endParaRPr lang="it-IT" sz="12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  <a:p>
              <a:r>
                <a:rPr lang="it-IT" sz="1200" dirty="0" err="1">
                  <a:latin typeface="Helvetica" panose="020B0604020202020204" pitchFamily="34" charset="0"/>
                  <a:cs typeface="Helvetica" panose="020B0604020202020204" pitchFamily="34" charset="0"/>
                </a:rPr>
                <a:t>ram_data_out</a:t>
              </a:r>
              <a:endParaRPr lang="it-IT" sz="12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1AA88BB8-E51D-4CCB-9ACC-118073331C6E}"/>
                </a:ext>
              </a:extLst>
            </p:cNvPr>
            <p:cNvSpPr txBox="1"/>
            <p:nvPr/>
          </p:nvSpPr>
          <p:spPr>
            <a:xfrm>
              <a:off x="5297415" y="3254425"/>
              <a:ext cx="121930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200" dirty="0" err="1">
                  <a:latin typeface="Helvetica" panose="020B0604020202020204" pitchFamily="34" charset="0"/>
                  <a:cs typeface="Helvetica" panose="020B0604020202020204" pitchFamily="34" charset="0"/>
                </a:rPr>
                <a:t>ram_wr_en</a:t>
              </a:r>
              <a:endParaRPr lang="it-IT" sz="12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  <a:p>
              <a:r>
                <a:rPr lang="it-IT" sz="1200" dirty="0" err="1">
                  <a:latin typeface="Helvetica" panose="020B0604020202020204" pitchFamily="34" charset="0"/>
                  <a:cs typeface="Helvetica" panose="020B0604020202020204" pitchFamily="34" charset="0"/>
                </a:rPr>
                <a:t>ram_adr</a:t>
              </a:r>
              <a:endParaRPr lang="it-IT" sz="12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  <a:p>
              <a:r>
                <a:rPr lang="it-IT" sz="1200" dirty="0" err="1">
                  <a:latin typeface="Helvetica" panose="020B0604020202020204" pitchFamily="34" charset="0"/>
                  <a:cs typeface="Helvetica" panose="020B0604020202020204" pitchFamily="34" charset="0"/>
                </a:rPr>
                <a:t>ram_data_in</a:t>
              </a:r>
              <a:endParaRPr lang="it-IT" sz="12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EACBD96C-32DD-F2A3-2FCD-9338B6DC678A}"/>
              </a:ext>
            </a:extLst>
          </p:cNvPr>
          <p:cNvGrpSpPr/>
          <p:nvPr/>
        </p:nvGrpSpPr>
        <p:grpSpPr>
          <a:xfrm>
            <a:off x="9661220" y="2323628"/>
            <a:ext cx="2082668" cy="1735016"/>
            <a:chOff x="4071814" y="2915138"/>
            <a:chExt cx="2082668" cy="1735016"/>
          </a:xfrm>
        </p:grpSpPr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4802910F-7829-95EE-D148-716A3D387B76}"/>
                </a:ext>
              </a:extLst>
            </p:cNvPr>
            <p:cNvSpPr/>
            <p:nvPr/>
          </p:nvSpPr>
          <p:spPr>
            <a:xfrm>
              <a:off x="4071815" y="2915138"/>
              <a:ext cx="1953847" cy="173501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686400D3-4F2F-F944-1128-4A8391FFB960}"/>
                </a:ext>
              </a:extLst>
            </p:cNvPr>
            <p:cNvSpPr txBox="1"/>
            <p:nvPr/>
          </p:nvSpPr>
          <p:spPr>
            <a:xfrm>
              <a:off x="4518452" y="2927125"/>
              <a:ext cx="1167711" cy="3193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400" dirty="0" err="1">
                  <a:latin typeface="Helvetica" panose="020B0604020202020204" pitchFamily="34" charset="0"/>
                  <a:cs typeface="Helvetica" panose="020B0604020202020204" pitchFamily="34" charset="0"/>
                </a:rPr>
                <a:t>RAM_count</a:t>
              </a:r>
              <a:endParaRPr lang="it-IT" sz="14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77" name="Isosceles Triangle 76">
              <a:extLst>
                <a:ext uri="{FF2B5EF4-FFF2-40B4-BE49-F238E27FC236}">
                  <a16:creationId xmlns:a16="http://schemas.microsoft.com/office/drawing/2014/main" id="{3A93A184-3B0A-559F-7162-90177768431A}"/>
                </a:ext>
              </a:extLst>
            </p:cNvPr>
            <p:cNvSpPr/>
            <p:nvPr/>
          </p:nvSpPr>
          <p:spPr>
            <a:xfrm rot="5400000">
              <a:off x="4045487" y="4258990"/>
              <a:ext cx="275670" cy="223016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9C0CBDBC-F89E-FA5C-2BDF-951A0C43C94E}"/>
                </a:ext>
              </a:extLst>
            </p:cNvPr>
            <p:cNvSpPr txBox="1"/>
            <p:nvPr/>
          </p:nvSpPr>
          <p:spPr>
            <a:xfrm>
              <a:off x="4276697" y="4231334"/>
              <a:ext cx="40108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200" dirty="0" err="1">
                  <a:latin typeface="Helvetica" panose="020B0604020202020204" pitchFamily="34" charset="0"/>
                  <a:cs typeface="Helvetica" panose="020B0604020202020204" pitchFamily="34" charset="0"/>
                </a:rPr>
                <a:t>clk</a:t>
              </a:r>
              <a:endParaRPr lang="it-IT" sz="12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ACE8083C-E031-54E1-3E65-EB30BB945C8C}"/>
                </a:ext>
              </a:extLst>
            </p:cNvPr>
            <p:cNvSpPr txBox="1"/>
            <p:nvPr/>
          </p:nvSpPr>
          <p:spPr>
            <a:xfrm>
              <a:off x="4086436" y="3249031"/>
              <a:ext cx="840053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200" dirty="0" err="1">
                  <a:latin typeface="Helvetica" panose="020B0604020202020204" pitchFamily="34" charset="0"/>
                  <a:cs typeface="Helvetica" panose="020B0604020202020204" pitchFamily="34" charset="0"/>
                </a:rPr>
                <a:t>wr_en</a:t>
              </a:r>
              <a:endParaRPr lang="it-IT" sz="12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  <a:p>
              <a:r>
                <a:rPr lang="it-IT" sz="1200" dirty="0" err="1">
                  <a:latin typeface="Helvetica" panose="020B0604020202020204" pitchFamily="34" charset="0"/>
                  <a:cs typeface="Helvetica" panose="020B0604020202020204" pitchFamily="34" charset="0"/>
                </a:rPr>
                <a:t>w_adr</a:t>
              </a:r>
              <a:endParaRPr lang="it-IT" sz="12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  <a:p>
              <a:r>
                <a:rPr lang="it-IT" sz="1200" dirty="0" err="1">
                  <a:latin typeface="Helvetica" panose="020B0604020202020204" pitchFamily="34" charset="0"/>
                  <a:cs typeface="Helvetica" panose="020B0604020202020204" pitchFamily="34" charset="0"/>
                </a:rPr>
                <a:t>data_in</a:t>
              </a:r>
              <a:endParaRPr lang="it-IT" sz="12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  <a:p>
              <a:endParaRPr lang="it-IT" sz="12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  <a:p>
              <a:r>
                <a:rPr lang="it-IT" sz="1200" dirty="0" err="1">
                  <a:latin typeface="Helvetica" panose="020B0604020202020204" pitchFamily="34" charset="0"/>
                  <a:cs typeface="Helvetica" panose="020B0604020202020204" pitchFamily="34" charset="0"/>
                </a:rPr>
                <a:t>r_adr</a:t>
              </a:r>
              <a:endParaRPr lang="it-IT" sz="12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DE77F05A-A2DD-B997-0535-CCF2D9D412BD}"/>
                </a:ext>
              </a:extLst>
            </p:cNvPr>
            <p:cNvSpPr txBox="1"/>
            <p:nvPr/>
          </p:nvSpPr>
          <p:spPr>
            <a:xfrm>
              <a:off x="4797669" y="3433697"/>
              <a:ext cx="135681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200" dirty="0" err="1">
                  <a:latin typeface="Helvetica" panose="020B0604020202020204" pitchFamily="34" charset="0"/>
                  <a:cs typeface="Helvetica" panose="020B0604020202020204" pitchFamily="34" charset="0"/>
                </a:rPr>
                <a:t>hist_data_out</a:t>
              </a:r>
              <a:endParaRPr lang="it-IT" sz="12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  <a:p>
              <a:endParaRPr lang="it-IT" sz="12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  <a:p>
              <a:endParaRPr lang="it-IT" sz="12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  <a:p>
              <a:r>
                <a:rPr lang="it-IT" sz="1200" dirty="0" err="1">
                  <a:latin typeface="Helvetica" panose="020B0604020202020204" pitchFamily="34" charset="0"/>
                  <a:cs typeface="Helvetica" panose="020B0604020202020204" pitchFamily="34" charset="0"/>
                </a:rPr>
                <a:t>UART_data_out</a:t>
              </a:r>
              <a:endParaRPr lang="it-IT" sz="12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</p:grp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0D48D392-EBBD-B4F7-0AF4-8C6BFF9EC169}"/>
              </a:ext>
            </a:extLst>
          </p:cNvPr>
          <p:cNvCxnSpPr>
            <a:cxnSpLocks/>
          </p:cNvCxnSpPr>
          <p:nvPr/>
        </p:nvCxnSpPr>
        <p:spPr>
          <a:xfrm>
            <a:off x="6542463" y="2956568"/>
            <a:ext cx="30372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B3E7337C-09B5-A191-BA2E-A9385CED4713}"/>
              </a:ext>
            </a:extLst>
          </p:cNvPr>
          <p:cNvCxnSpPr>
            <a:cxnSpLocks/>
          </p:cNvCxnSpPr>
          <p:nvPr/>
        </p:nvCxnSpPr>
        <p:spPr>
          <a:xfrm>
            <a:off x="6542463" y="3119331"/>
            <a:ext cx="30372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1EFA3B80-34B8-BB18-2053-B1A5890C3DB8}"/>
              </a:ext>
            </a:extLst>
          </p:cNvPr>
          <p:cNvCxnSpPr>
            <a:cxnSpLocks/>
          </p:cNvCxnSpPr>
          <p:nvPr/>
        </p:nvCxnSpPr>
        <p:spPr>
          <a:xfrm>
            <a:off x="6694325" y="3275936"/>
            <a:ext cx="166543" cy="169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24C2AF0A-91FC-BD4F-559A-09529E48DE2B}"/>
              </a:ext>
            </a:extLst>
          </p:cNvPr>
          <p:cNvCxnSpPr>
            <a:cxnSpLocks/>
          </p:cNvCxnSpPr>
          <p:nvPr/>
        </p:nvCxnSpPr>
        <p:spPr>
          <a:xfrm flipV="1">
            <a:off x="6694325" y="3275936"/>
            <a:ext cx="0" cy="9393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DDAFD5B3-7632-5CAF-E17F-DEC600C6A510}"/>
              </a:ext>
            </a:extLst>
          </p:cNvPr>
          <p:cNvCxnSpPr>
            <a:cxnSpLocks/>
          </p:cNvCxnSpPr>
          <p:nvPr/>
        </p:nvCxnSpPr>
        <p:spPr>
          <a:xfrm flipH="1">
            <a:off x="6694325" y="4189498"/>
            <a:ext cx="516273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6430BF94-D25C-440B-BED9-B5583CB0914F}"/>
              </a:ext>
            </a:extLst>
          </p:cNvPr>
          <p:cNvCxnSpPr>
            <a:cxnSpLocks/>
          </p:cNvCxnSpPr>
          <p:nvPr/>
        </p:nvCxnSpPr>
        <p:spPr>
          <a:xfrm flipV="1">
            <a:off x="11857055" y="2956568"/>
            <a:ext cx="0" cy="12404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4B3A0D3D-DC3E-C305-B479-F20032610DB6}"/>
              </a:ext>
            </a:extLst>
          </p:cNvPr>
          <p:cNvCxnSpPr>
            <a:cxnSpLocks/>
          </p:cNvCxnSpPr>
          <p:nvPr/>
        </p:nvCxnSpPr>
        <p:spPr>
          <a:xfrm>
            <a:off x="11615068" y="2985467"/>
            <a:ext cx="24198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4B169517-B490-88EE-B77B-A38811F31D28}"/>
              </a:ext>
            </a:extLst>
          </p:cNvPr>
          <p:cNvGrpSpPr/>
          <p:nvPr/>
        </p:nvGrpSpPr>
        <p:grpSpPr>
          <a:xfrm>
            <a:off x="7751282" y="4290917"/>
            <a:ext cx="4229641" cy="2474698"/>
            <a:chOff x="8781275" y="4433137"/>
            <a:chExt cx="2411733" cy="2072397"/>
          </a:xfrm>
        </p:grpSpPr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7BFB7390-F2CE-CE5B-A1B7-912C624B1D4C}"/>
                </a:ext>
              </a:extLst>
            </p:cNvPr>
            <p:cNvSpPr/>
            <p:nvPr/>
          </p:nvSpPr>
          <p:spPr>
            <a:xfrm>
              <a:off x="8781276" y="4433137"/>
              <a:ext cx="2411732" cy="207239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A05651FB-E838-A9CB-82CD-6ABE8B72BBFC}"/>
                </a:ext>
              </a:extLst>
            </p:cNvPr>
            <p:cNvSpPr txBox="1"/>
            <p:nvPr/>
          </p:nvSpPr>
          <p:spPr>
            <a:xfrm>
              <a:off x="9959085" y="4441935"/>
              <a:ext cx="889648" cy="3814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400" dirty="0">
                  <a:latin typeface="Helvetica" panose="020B0604020202020204" pitchFamily="34" charset="0"/>
                  <a:cs typeface="Helvetica" panose="020B0604020202020204" pitchFamily="34" charset="0"/>
                </a:rPr>
                <a:t>UART</a:t>
              </a:r>
            </a:p>
          </p:txBody>
        </p:sp>
        <p:sp>
          <p:nvSpPr>
            <p:cNvPr id="128" name="Isosceles Triangle 127">
              <a:extLst>
                <a:ext uri="{FF2B5EF4-FFF2-40B4-BE49-F238E27FC236}">
                  <a16:creationId xmlns:a16="http://schemas.microsoft.com/office/drawing/2014/main" id="{D92054D9-1D23-8642-90A3-CE8875D06C31}"/>
                </a:ext>
              </a:extLst>
            </p:cNvPr>
            <p:cNvSpPr/>
            <p:nvPr/>
          </p:nvSpPr>
          <p:spPr>
            <a:xfrm rot="5400000">
              <a:off x="8754277" y="6033858"/>
              <a:ext cx="329275" cy="275280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264B1FCE-1BF7-1C19-4986-F28927135A72}"/>
                </a:ext>
              </a:extLst>
            </p:cNvPr>
            <p:cNvSpPr txBox="1"/>
            <p:nvPr/>
          </p:nvSpPr>
          <p:spPr>
            <a:xfrm>
              <a:off x="9034172" y="6005273"/>
              <a:ext cx="495081" cy="3308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200" dirty="0" err="1">
                  <a:latin typeface="Helvetica" panose="020B0604020202020204" pitchFamily="34" charset="0"/>
                  <a:cs typeface="Helvetica" panose="020B0604020202020204" pitchFamily="34" charset="0"/>
                </a:rPr>
                <a:t>clk</a:t>
              </a:r>
              <a:endParaRPr lang="it-IT" sz="12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</p:grpSp>
      <p:sp>
        <p:nvSpPr>
          <p:cNvPr id="130" name="TextBox 129">
            <a:extLst>
              <a:ext uri="{FF2B5EF4-FFF2-40B4-BE49-F238E27FC236}">
                <a16:creationId xmlns:a16="http://schemas.microsoft.com/office/drawing/2014/main" id="{01ECD3DF-9626-4284-ECD1-C8F7F1D1068F}"/>
              </a:ext>
            </a:extLst>
          </p:cNvPr>
          <p:cNvSpPr txBox="1"/>
          <p:nvPr/>
        </p:nvSpPr>
        <p:spPr>
          <a:xfrm>
            <a:off x="7750818" y="4755299"/>
            <a:ext cx="1810432" cy="86177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it-IT" sz="1400" dirty="0" err="1">
                <a:latin typeface="Helvetica" panose="020B0604020202020204" pitchFamily="34" charset="0"/>
                <a:cs typeface="Helvetica" panose="020B0604020202020204" pitchFamily="34" charset="0"/>
              </a:rPr>
              <a:t>uart_rx</a:t>
            </a:r>
            <a:endParaRPr lang="it-IT" sz="1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r>
              <a:rPr lang="it-IT" sz="1200" dirty="0">
                <a:latin typeface="Helvetica" panose="020B0604020202020204" pitchFamily="34" charset="0"/>
                <a:cs typeface="Helvetica" panose="020B0604020202020204" pitchFamily="34" charset="0"/>
              </a:rPr>
              <a:t>riceve comandi dal pc:</a:t>
            </a:r>
          </a:p>
          <a:p>
            <a:r>
              <a:rPr lang="it-IT" sz="1200" dirty="0">
                <a:latin typeface="Helvetica" panose="020B0604020202020204" pitchFamily="34" charset="0"/>
                <a:cs typeface="Helvetica" panose="020B0604020202020204" pitchFamily="34" charset="0"/>
              </a:rPr>
              <a:t>S = </a:t>
            </a:r>
            <a:r>
              <a:rPr lang="it-IT" sz="1200" dirty="0" err="1">
                <a:latin typeface="Helvetica" panose="020B0604020202020204" pitchFamily="34" charset="0"/>
                <a:cs typeface="Helvetica" panose="020B0604020202020204" pitchFamily="34" charset="0"/>
              </a:rPr>
              <a:t>send</a:t>
            </a:r>
            <a:r>
              <a:rPr lang="it-IT" sz="1200" dirty="0">
                <a:latin typeface="Helvetica" panose="020B0604020202020204" pitchFamily="34" charset="0"/>
                <a:cs typeface="Helvetica" panose="020B0604020202020204" pitchFamily="34" charset="0"/>
              </a:rPr>
              <a:t> data</a:t>
            </a:r>
          </a:p>
          <a:p>
            <a:r>
              <a:rPr lang="it-IT" sz="1200" dirty="0">
                <a:latin typeface="Helvetica" panose="020B0604020202020204" pitchFamily="34" charset="0"/>
                <a:cs typeface="Helvetica" panose="020B0604020202020204" pitchFamily="34" charset="0"/>
              </a:rPr>
              <a:t>R = reset </a:t>
            </a:r>
            <a:r>
              <a:rPr lang="it-IT" sz="1200" dirty="0" err="1">
                <a:latin typeface="Helvetica" panose="020B0604020202020204" pitchFamily="34" charset="0"/>
                <a:cs typeface="Helvetica" panose="020B0604020202020204" pitchFamily="34" charset="0"/>
              </a:rPr>
              <a:t>count</a:t>
            </a:r>
            <a:endParaRPr lang="it-IT" sz="12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66F55F0B-4E3B-12F4-522E-FB92EA29143D}"/>
              </a:ext>
            </a:extLst>
          </p:cNvPr>
          <p:cNvSpPr txBox="1"/>
          <p:nvPr/>
        </p:nvSpPr>
        <p:spPr>
          <a:xfrm>
            <a:off x="9770479" y="4848131"/>
            <a:ext cx="2196170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it-IT" sz="1200" dirty="0">
                <a:latin typeface="Helvetica" panose="020B0604020202020204" pitchFamily="34" charset="0"/>
                <a:cs typeface="Helvetica" panose="020B0604020202020204" pitchFamily="34" charset="0"/>
              </a:rPr>
              <a:t>TX</a:t>
            </a:r>
          </a:p>
          <a:p>
            <a:r>
              <a:rPr lang="it-IT" sz="1200" dirty="0">
                <a:latin typeface="Helvetica" panose="020B0604020202020204" pitchFamily="34" charset="0"/>
                <a:cs typeface="Helvetica" panose="020B0604020202020204" pitchFamily="34" charset="0"/>
              </a:rPr>
              <a:t>invia dati della RAM al pc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801FCE01-D771-E2BB-2CD5-90F87721B897}"/>
              </a:ext>
            </a:extLst>
          </p:cNvPr>
          <p:cNvSpPr txBox="1"/>
          <p:nvPr/>
        </p:nvSpPr>
        <p:spPr>
          <a:xfrm>
            <a:off x="9884236" y="2092311"/>
            <a:ext cx="25699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>
                <a:latin typeface="Helvetica" panose="020B0604020202020204" pitchFamily="34" charset="0"/>
                <a:cs typeface="Helvetica" panose="020B0604020202020204" pitchFamily="34" charset="0"/>
              </a:rPr>
              <a:t>dual-port RAM 1024x32</a:t>
            </a:r>
          </a:p>
        </p:txBody>
      </p: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E3CEF6B7-E8A8-60F0-46D0-B35147F5B66B}"/>
              </a:ext>
            </a:extLst>
          </p:cNvPr>
          <p:cNvGrpSpPr/>
          <p:nvPr/>
        </p:nvGrpSpPr>
        <p:grpSpPr>
          <a:xfrm>
            <a:off x="6479701" y="2884207"/>
            <a:ext cx="457641" cy="309862"/>
            <a:chOff x="4977783" y="4850874"/>
            <a:chExt cx="457641" cy="309862"/>
          </a:xfrm>
        </p:grpSpPr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0F745FB4-518F-B74C-A961-D4DFC803994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54169" y="4850874"/>
              <a:ext cx="95508" cy="12324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C190030A-3D59-3620-681E-2584709D52F1}"/>
                </a:ext>
              </a:extLst>
            </p:cNvPr>
            <p:cNvSpPr txBox="1"/>
            <p:nvPr/>
          </p:nvSpPr>
          <p:spPr>
            <a:xfrm>
              <a:off x="4977783" y="4899126"/>
              <a:ext cx="45764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100" dirty="0">
                  <a:latin typeface="Helvetica" panose="020B0604020202020204" pitchFamily="34" charset="0"/>
                  <a:cs typeface="Helvetica" panose="020B0604020202020204" pitchFamily="34" charset="0"/>
                </a:rPr>
                <a:t>[9:0]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25954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D13651E-E6EE-0137-3B70-7225A4226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FIFO</a:t>
            </a:r>
          </a:p>
        </p:txBody>
      </p:sp>
      <p:grpSp>
        <p:nvGrpSpPr>
          <p:cNvPr id="4" name="Group 24">
            <a:extLst>
              <a:ext uri="{FF2B5EF4-FFF2-40B4-BE49-F238E27FC236}">
                <a16:creationId xmlns:a16="http://schemas.microsoft.com/office/drawing/2014/main" id="{ABE9A998-B83C-2440-2E6E-184EE542546E}"/>
              </a:ext>
            </a:extLst>
          </p:cNvPr>
          <p:cNvGrpSpPr/>
          <p:nvPr/>
        </p:nvGrpSpPr>
        <p:grpSpPr>
          <a:xfrm>
            <a:off x="2806946" y="2178299"/>
            <a:ext cx="2213714" cy="1735016"/>
            <a:chOff x="4071814" y="2915138"/>
            <a:chExt cx="2213714" cy="1735016"/>
          </a:xfrm>
        </p:grpSpPr>
        <p:sp>
          <p:nvSpPr>
            <p:cNvPr id="5" name="Rectangle 25">
              <a:extLst>
                <a:ext uri="{FF2B5EF4-FFF2-40B4-BE49-F238E27FC236}">
                  <a16:creationId xmlns:a16="http://schemas.microsoft.com/office/drawing/2014/main" id="{B444B866-8FA6-1970-6EBA-A3980A7EA834}"/>
                </a:ext>
              </a:extLst>
            </p:cNvPr>
            <p:cNvSpPr/>
            <p:nvPr/>
          </p:nvSpPr>
          <p:spPr>
            <a:xfrm>
              <a:off x="4071815" y="2915138"/>
              <a:ext cx="1953847" cy="173501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6" name="TextBox 26">
              <a:extLst>
                <a:ext uri="{FF2B5EF4-FFF2-40B4-BE49-F238E27FC236}">
                  <a16:creationId xmlns:a16="http://schemas.microsoft.com/office/drawing/2014/main" id="{30F7808E-EE2C-61AF-D66C-ACA5E0B4D6B5}"/>
                </a:ext>
              </a:extLst>
            </p:cNvPr>
            <p:cNvSpPr txBox="1"/>
            <p:nvPr/>
          </p:nvSpPr>
          <p:spPr>
            <a:xfrm>
              <a:off x="4095372" y="2927125"/>
              <a:ext cx="191169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400" dirty="0">
                  <a:latin typeface="Helvetica" panose="020B0604020202020204" pitchFamily="34" charset="0"/>
                  <a:cs typeface="Helvetica" panose="020B0604020202020204" pitchFamily="34" charset="0"/>
                </a:rPr>
                <a:t>FIFOwidth10_depth?</a:t>
              </a:r>
            </a:p>
          </p:txBody>
        </p:sp>
        <p:sp>
          <p:nvSpPr>
            <p:cNvPr id="7" name="Isosceles Triangle 27">
              <a:extLst>
                <a:ext uri="{FF2B5EF4-FFF2-40B4-BE49-F238E27FC236}">
                  <a16:creationId xmlns:a16="http://schemas.microsoft.com/office/drawing/2014/main" id="{B9B63094-48A4-233A-EC7D-225C2D82795D}"/>
                </a:ext>
              </a:extLst>
            </p:cNvPr>
            <p:cNvSpPr/>
            <p:nvPr/>
          </p:nvSpPr>
          <p:spPr>
            <a:xfrm rot="5400000">
              <a:off x="4045487" y="4258990"/>
              <a:ext cx="275670" cy="223016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8" name="TextBox 28">
              <a:extLst>
                <a:ext uri="{FF2B5EF4-FFF2-40B4-BE49-F238E27FC236}">
                  <a16:creationId xmlns:a16="http://schemas.microsoft.com/office/drawing/2014/main" id="{2A7666D6-6081-E06B-4F1C-5117245DC413}"/>
                </a:ext>
              </a:extLst>
            </p:cNvPr>
            <p:cNvSpPr txBox="1"/>
            <p:nvPr/>
          </p:nvSpPr>
          <p:spPr>
            <a:xfrm>
              <a:off x="4276697" y="4231334"/>
              <a:ext cx="40108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200" dirty="0" err="1">
                  <a:latin typeface="Helvetica" panose="020B0604020202020204" pitchFamily="34" charset="0"/>
                  <a:cs typeface="Helvetica" panose="020B0604020202020204" pitchFamily="34" charset="0"/>
                </a:rPr>
                <a:t>clk</a:t>
              </a:r>
              <a:endParaRPr lang="it-IT" sz="12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9" name="TextBox 29">
              <a:extLst>
                <a:ext uri="{FF2B5EF4-FFF2-40B4-BE49-F238E27FC236}">
                  <a16:creationId xmlns:a16="http://schemas.microsoft.com/office/drawing/2014/main" id="{B0D05F17-968F-F662-8195-53FF44099F20}"/>
                </a:ext>
              </a:extLst>
            </p:cNvPr>
            <p:cNvSpPr txBox="1"/>
            <p:nvPr/>
          </p:nvSpPr>
          <p:spPr>
            <a:xfrm>
              <a:off x="4086436" y="3699411"/>
              <a:ext cx="84005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200" dirty="0" err="1">
                  <a:latin typeface="Helvetica" panose="020B0604020202020204" pitchFamily="34" charset="0"/>
                  <a:cs typeface="Helvetica" panose="020B0604020202020204" pitchFamily="34" charset="0"/>
                </a:rPr>
                <a:t>wr_en</a:t>
              </a:r>
              <a:endParaRPr lang="it-IT" sz="12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  <a:p>
              <a:r>
                <a:rPr lang="it-IT" sz="1200" dirty="0" err="1">
                  <a:latin typeface="Helvetica" panose="020B0604020202020204" pitchFamily="34" charset="0"/>
                  <a:cs typeface="Helvetica" panose="020B0604020202020204" pitchFamily="34" charset="0"/>
                </a:rPr>
                <a:t>w_data</a:t>
              </a:r>
              <a:endParaRPr lang="it-IT" sz="12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10" name="TextBox 30">
              <a:extLst>
                <a:ext uri="{FF2B5EF4-FFF2-40B4-BE49-F238E27FC236}">
                  <a16:creationId xmlns:a16="http://schemas.microsoft.com/office/drawing/2014/main" id="{C318B011-0C6D-CD1E-32CC-981AE56E5F96}"/>
                </a:ext>
              </a:extLst>
            </p:cNvPr>
            <p:cNvSpPr txBox="1"/>
            <p:nvPr/>
          </p:nvSpPr>
          <p:spPr>
            <a:xfrm>
              <a:off x="5368969" y="3369839"/>
              <a:ext cx="916559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200" dirty="0" err="1">
                  <a:latin typeface="Helvetica" panose="020B0604020202020204" pitchFamily="34" charset="0"/>
                  <a:cs typeface="Helvetica" panose="020B0604020202020204" pitchFamily="34" charset="0"/>
                </a:rPr>
                <a:t>r_data</a:t>
              </a:r>
              <a:endParaRPr lang="it-IT" sz="12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  <a:p>
              <a:r>
                <a:rPr lang="it-IT" sz="1200" dirty="0" err="1">
                  <a:latin typeface="Helvetica" panose="020B0604020202020204" pitchFamily="34" charset="0"/>
                  <a:cs typeface="Helvetica" panose="020B0604020202020204" pitchFamily="34" charset="0"/>
                </a:rPr>
                <a:t>rd_en</a:t>
              </a:r>
              <a:endParaRPr lang="it-IT" sz="12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  <a:p>
              <a:r>
                <a:rPr lang="it-IT" sz="1200" dirty="0">
                  <a:latin typeface="Helvetica" panose="020B0604020202020204" pitchFamily="34" charset="0"/>
                  <a:cs typeface="Helvetica" panose="020B0604020202020204" pitchFamily="34" charset="0"/>
                </a:rPr>
                <a:t>full</a:t>
              </a:r>
            </a:p>
            <a:p>
              <a:r>
                <a:rPr lang="it-IT" sz="1200" dirty="0" err="1">
                  <a:latin typeface="Helvetica" panose="020B0604020202020204" pitchFamily="34" charset="0"/>
                  <a:cs typeface="Helvetica" panose="020B0604020202020204" pitchFamily="34" charset="0"/>
                </a:rPr>
                <a:t>empty</a:t>
              </a:r>
              <a:endParaRPr lang="it-IT" sz="12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</p:grp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3B4AF853-554C-80BB-D7B2-048915E639A3}"/>
              </a:ext>
            </a:extLst>
          </p:cNvPr>
          <p:cNvSpPr txBox="1"/>
          <p:nvPr/>
        </p:nvSpPr>
        <p:spPr>
          <a:xfrm>
            <a:off x="2918454" y="4008492"/>
            <a:ext cx="17810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Central Memory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D0A91A11-E26B-8B9D-E8FC-05180BBD914B}"/>
              </a:ext>
            </a:extLst>
          </p:cNvPr>
          <p:cNvSpPr txBox="1"/>
          <p:nvPr/>
        </p:nvSpPr>
        <p:spPr>
          <a:xfrm>
            <a:off x="785207" y="2676475"/>
            <a:ext cx="750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/>
              <a:t>WrPtr</a:t>
            </a:r>
            <a:endParaRPr lang="it-IT" dirty="0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E77FFC0A-DD71-96A9-41AE-D4D05273B491}"/>
              </a:ext>
            </a:extLst>
          </p:cNvPr>
          <p:cNvSpPr txBox="1"/>
          <p:nvPr/>
        </p:nvSpPr>
        <p:spPr>
          <a:xfrm>
            <a:off x="5928184" y="2708650"/>
            <a:ext cx="738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/>
              <a:t>RdPtr</a:t>
            </a:r>
            <a:endParaRPr lang="it-IT" dirty="0"/>
          </a:p>
        </p:txBody>
      </p:sp>
      <p:cxnSp>
        <p:nvCxnSpPr>
          <p:cNvPr id="18" name="Connettore 2 17">
            <a:extLst>
              <a:ext uri="{FF2B5EF4-FFF2-40B4-BE49-F238E27FC236}">
                <a16:creationId xmlns:a16="http://schemas.microsoft.com/office/drawing/2014/main" id="{AF2D991C-2C1D-976E-9366-713479482B95}"/>
              </a:ext>
            </a:extLst>
          </p:cNvPr>
          <p:cNvCxnSpPr>
            <a:cxnSpLocks/>
          </p:cNvCxnSpPr>
          <p:nvPr/>
        </p:nvCxnSpPr>
        <p:spPr>
          <a:xfrm>
            <a:off x="876117" y="3077980"/>
            <a:ext cx="1930829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0DB0BD22-0989-47DF-C1B7-CE1EB31CADDA}"/>
              </a:ext>
            </a:extLst>
          </p:cNvPr>
          <p:cNvCxnSpPr>
            <a:cxnSpLocks/>
          </p:cNvCxnSpPr>
          <p:nvPr/>
        </p:nvCxnSpPr>
        <p:spPr>
          <a:xfrm>
            <a:off x="4775415" y="3077980"/>
            <a:ext cx="1930829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0E4913F4-84B5-E948-7EFC-EBFCE4C34758}"/>
              </a:ext>
            </a:extLst>
          </p:cNvPr>
          <p:cNvSpPr txBox="1"/>
          <p:nvPr/>
        </p:nvSpPr>
        <p:spPr>
          <a:xfrm>
            <a:off x="4451245" y="5253781"/>
            <a:ext cx="12895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-FIFO FULL</a:t>
            </a:r>
          </a:p>
        </p:txBody>
      </p:sp>
      <p:cxnSp>
        <p:nvCxnSpPr>
          <p:cNvPr id="22" name="Connettore 2 21">
            <a:extLst>
              <a:ext uri="{FF2B5EF4-FFF2-40B4-BE49-F238E27FC236}">
                <a16:creationId xmlns:a16="http://schemas.microsoft.com/office/drawing/2014/main" id="{021B5E0A-273F-6B05-8D8D-EADCA8EB6ED3}"/>
              </a:ext>
            </a:extLst>
          </p:cNvPr>
          <p:cNvCxnSpPr>
            <a:cxnSpLocks/>
          </p:cNvCxnSpPr>
          <p:nvPr/>
        </p:nvCxnSpPr>
        <p:spPr>
          <a:xfrm flipV="1">
            <a:off x="7995744" y="5179556"/>
            <a:ext cx="231738" cy="1961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Connettore 2 23">
            <a:extLst>
              <a:ext uri="{FF2B5EF4-FFF2-40B4-BE49-F238E27FC236}">
                <a16:creationId xmlns:a16="http://schemas.microsoft.com/office/drawing/2014/main" id="{8D01AE63-BA5A-EBC6-51ED-28EB0C9C84BD}"/>
              </a:ext>
            </a:extLst>
          </p:cNvPr>
          <p:cNvCxnSpPr>
            <a:cxnSpLocks/>
          </p:cNvCxnSpPr>
          <p:nvPr/>
        </p:nvCxnSpPr>
        <p:spPr>
          <a:xfrm>
            <a:off x="7940228" y="5504802"/>
            <a:ext cx="220546" cy="1183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6FD7F477-5599-5C3F-F87C-DCD50DA33F73}"/>
              </a:ext>
            </a:extLst>
          </p:cNvPr>
          <p:cNvSpPr txBox="1"/>
          <p:nvPr/>
        </p:nvSpPr>
        <p:spPr>
          <a:xfrm>
            <a:off x="4354709" y="465081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-FIFO EMPTY                  </a:t>
            </a:r>
            <a:r>
              <a:rPr lang="it-IT" dirty="0" err="1"/>
              <a:t>wrPtr</a:t>
            </a:r>
            <a:r>
              <a:rPr lang="it-IT" dirty="0"/>
              <a:t> = </a:t>
            </a:r>
            <a:r>
              <a:rPr lang="it-IT" dirty="0" err="1"/>
              <a:t>RdPtr</a:t>
            </a:r>
            <a:endParaRPr lang="it-IT" dirty="0"/>
          </a:p>
        </p:txBody>
      </p:sp>
      <p:cxnSp>
        <p:nvCxnSpPr>
          <p:cNvPr id="28" name="Connettore 2 27">
            <a:extLst>
              <a:ext uri="{FF2B5EF4-FFF2-40B4-BE49-F238E27FC236}">
                <a16:creationId xmlns:a16="http://schemas.microsoft.com/office/drawing/2014/main" id="{E4BDE6C5-EC85-9423-3666-26DEFCB93453}"/>
              </a:ext>
            </a:extLst>
          </p:cNvPr>
          <p:cNvCxnSpPr/>
          <p:nvPr/>
        </p:nvCxnSpPr>
        <p:spPr>
          <a:xfrm>
            <a:off x="5928184" y="4835482"/>
            <a:ext cx="40312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83CCE25F-6E86-DDF4-A215-C1EC08260F2A}"/>
              </a:ext>
            </a:extLst>
          </p:cNvPr>
          <p:cNvSpPr txBox="1"/>
          <p:nvPr/>
        </p:nvSpPr>
        <p:spPr>
          <a:xfrm>
            <a:off x="6272957" y="5221806"/>
            <a:ext cx="15751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/>
              <a:t>Never</a:t>
            </a:r>
            <a:r>
              <a:rPr lang="it-IT" dirty="0"/>
              <a:t> </a:t>
            </a:r>
            <a:r>
              <a:rPr lang="it-IT" dirty="0" err="1"/>
              <a:t>happen</a:t>
            </a:r>
            <a:endParaRPr lang="it-IT" dirty="0"/>
          </a:p>
        </p:txBody>
      </p:sp>
      <p:cxnSp>
        <p:nvCxnSpPr>
          <p:cNvPr id="30" name="Connettore 2 29">
            <a:extLst>
              <a:ext uri="{FF2B5EF4-FFF2-40B4-BE49-F238E27FC236}">
                <a16:creationId xmlns:a16="http://schemas.microsoft.com/office/drawing/2014/main" id="{E4AAEC09-8BC8-1043-DDD9-499EDC76512B}"/>
              </a:ext>
            </a:extLst>
          </p:cNvPr>
          <p:cNvCxnSpPr/>
          <p:nvPr/>
        </p:nvCxnSpPr>
        <p:spPr>
          <a:xfrm>
            <a:off x="5894438" y="5385494"/>
            <a:ext cx="40312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" name="CasellaDiTesto 34">
            <a:extLst>
              <a:ext uri="{FF2B5EF4-FFF2-40B4-BE49-F238E27FC236}">
                <a16:creationId xmlns:a16="http://schemas.microsoft.com/office/drawing/2014/main" id="{136ADBF5-1B09-05F3-2ACD-936BA6AEB092}"/>
              </a:ext>
            </a:extLst>
          </p:cNvPr>
          <p:cNvSpPr txBox="1"/>
          <p:nvPr/>
        </p:nvSpPr>
        <p:spPr>
          <a:xfrm>
            <a:off x="8335077" y="4983849"/>
            <a:ext cx="29896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slow data processing speed </a:t>
            </a:r>
          </a:p>
        </p:txBody>
      </p:sp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F6FDB645-1972-402C-7C86-AFB3447CB310}"/>
              </a:ext>
            </a:extLst>
          </p:cNvPr>
          <p:cNvSpPr txBox="1"/>
          <p:nvPr/>
        </p:nvSpPr>
        <p:spPr>
          <a:xfrm>
            <a:off x="8335077" y="5451115"/>
            <a:ext cx="3270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incorrect sizing of FIFO speeds 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4019610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176</Words>
  <Application>Microsoft Office PowerPoint</Application>
  <PresentationFormat>Widescreen</PresentationFormat>
  <Paragraphs>69</Paragraphs>
  <Slides>3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Helvetica</vt:lpstr>
      <vt:lpstr>Office Theme</vt:lpstr>
      <vt:lpstr>ADC Characterization</vt:lpstr>
      <vt:lpstr>Project flowchart</vt:lpstr>
      <vt:lpstr>FIFO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Michela Conti</dc:creator>
  <cp:lastModifiedBy>Maria Cristina Ragusa</cp:lastModifiedBy>
  <cp:revision>4</cp:revision>
  <dcterms:created xsi:type="dcterms:W3CDTF">2026-01-30T15:22:33Z</dcterms:created>
  <dcterms:modified xsi:type="dcterms:W3CDTF">2026-02-01T11:38:07Z</dcterms:modified>
</cp:coreProperties>
</file>