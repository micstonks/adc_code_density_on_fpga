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845" y="1956618"/>
            <a:ext cx="6440129" cy="1130557"/>
          </a:xfrm>
        </p:spPr>
        <p:txBody>
          <a:bodyPr>
            <a:normAutofit fontScale="90000"/>
          </a:bodyPr>
          <a:lstStyle/>
          <a:p>
            <a:r>
              <a:rPr lang="it-IT" dirty="0"/>
              <a:t>ADC </a:t>
            </a:r>
            <a:r>
              <a:rPr lang="it-IT" dirty="0" err="1"/>
              <a:t>Characterization</a:t>
            </a:r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5" y="369790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it-IT" sz="1600" dirty="0"/>
              <a:t>Michela Conti</a:t>
            </a:r>
          </a:p>
          <a:p>
            <a:pPr algn="l"/>
            <a:r>
              <a:rPr lang="it-IT" sz="1600" dirty="0"/>
              <a:t>Maria Cristina Ragusa</a:t>
            </a:r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51282" y="429091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21C5E4D0-920E-3FA5-FF6B-94D190765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608" y="3952508"/>
            <a:ext cx="8324506" cy="1691209"/>
          </a:xfrm>
          <a:prstGeom prst="rect">
            <a:avLst/>
          </a:prstGeom>
        </p:spPr>
      </p:pic>
      <p:pic>
        <p:nvPicPr>
          <p:cNvPr id="7" name="Immagine 6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E3912DF-0316-C409-38CC-9410AD8A5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10" y="413536"/>
            <a:ext cx="4704649" cy="3322722"/>
          </a:xfrm>
          <a:prstGeom prst="rect">
            <a:avLst/>
          </a:prstGeom>
        </p:spPr>
      </p:pic>
      <p:pic>
        <p:nvPicPr>
          <p:cNvPr id="9" name="Immagine 8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00A1F8AE-E441-0076-6782-B61E37B735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7" r="1330"/>
          <a:stretch>
            <a:fillRect/>
          </a:stretch>
        </p:blipFill>
        <p:spPr>
          <a:xfrm>
            <a:off x="6923935" y="934065"/>
            <a:ext cx="4225845" cy="197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17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3651E-E6EE-0137-3B70-7225A422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590" y="340685"/>
            <a:ext cx="10515600" cy="1325563"/>
          </a:xfrm>
        </p:spPr>
        <p:txBody>
          <a:bodyPr/>
          <a:lstStyle/>
          <a:p>
            <a:r>
              <a:rPr lang="it-IT" dirty="0"/>
              <a:t>FIFO</a:t>
            </a:r>
          </a:p>
        </p:txBody>
      </p:sp>
      <p:grpSp>
        <p:nvGrpSpPr>
          <p:cNvPr id="4" name="Group 24">
            <a:extLst>
              <a:ext uri="{FF2B5EF4-FFF2-40B4-BE49-F238E27FC236}">
                <a16:creationId xmlns:a16="http://schemas.microsoft.com/office/drawing/2014/main" id="{ABE9A998-B83C-2440-2E6E-184EE542546E}"/>
              </a:ext>
            </a:extLst>
          </p:cNvPr>
          <p:cNvGrpSpPr/>
          <p:nvPr/>
        </p:nvGrpSpPr>
        <p:grpSpPr>
          <a:xfrm>
            <a:off x="5188995" y="1832464"/>
            <a:ext cx="1953848" cy="1735016"/>
            <a:chOff x="4071814" y="2915138"/>
            <a:chExt cx="1953848" cy="1735016"/>
          </a:xfrm>
        </p:grpSpPr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B444B866-8FA6-1970-6EBA-A3980A7EA834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Isosceles Triangle 27">
              <a:extLst>
                <a:ext uri="{FF2B5EF4-FFF2-40B4-BE49-F238E27FC236}">
                  <a16:creationId xmlns:a16="http://schemas.microsoft.com/office/drawing/2014/main" id="{B9B63094-48A4-233A-EC7D-225C2D82795D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B4AF853-554C-80BB-D7B2-048915E639A3}"/>
              </a:ext>
            </a:extLst>
          </p:cNvPr>
          <p:cNvSpPr txBox="1"/>
          <p:nvPr/>
        </p:nvSpPr>
        <p:spPr>
          <a:xfrm>
            <a:off x="5164801" y="3625285"/>
            <a:ext cx="1978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Central Memory</a:t>
            </a:r>
          </a:p>
          <a:p>
            <a:r>
              <a:rPr lang="it-IT" dirty="0"/>
              <a:t>Dual Port </a:t>
            </a:r>
            <a:r>
              <a:rPr lang="it-IT" dirty="0" err="1"/>
              <a:t>memory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0A91A11-E26B-8B9D-E8FC-05180BBD914B}"/>
              </a:ext>
            </a:extLst>
          </p:cNvPr>
          <p:cNvSpPr txBox="1"/>
          <p:nvPr/>
        </p:nvSpPr>
        <p:spPr>
          <a:xfrm>
            <a:off x="2385059" y="2604534"/>
            <a:ext cx="750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WrPtr</a:t>
            </a:r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77FFC0A-DD71-96A9-41AE-D4D05273B491}"/>
              </a:ext>
            </a:extLst>
          </p:cNvPr>
          <p:cNvSpPr txBox="1"/>
          <p:nvPr/>
        </p:nvSpPr>
        <p:spPr>
          <a:xfrm>
            <a:off x="9168537" y="2622683"/>
            <a:ext cx="73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F2D991C-2C1D-976E-9366-713479482B95}"/>
              </a:ext>
            </a:extLst>
          </p:cNvPr>
          <p:cNvCxnSpPr>
            <a:cxnSpLocks/>
          </p:cNvCxnSpPr>
          <p:nvPr/>
        </p:nvCxnSpPr>
        <p:spPr>
          <a:xfrm>
            <a:off x="3227032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0DB0BD22-0989-47DF-C1B7-CE1EB31CADDA}"/>
              </a:ext>
            </a:extLst>
          </p:cNvPr>
          <p:cNvCxnSpPr>
            <a:cxnSpLocks/>
          </p:cNvCxnSpPr>
          <p:nvPr/>
        </p:nvCxnSpPr>
        <p:spPr>
          <a:xfrm>
            <a:off x="7157464" y="2784522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7880FD0-1B5D-6AA6-1C5B-3294E0424AE1}"/>
              </a:ext>
            </a:extLst>
          </p:cNvPr>
          <p:cNvSpPr txBox="1"/>
          <p:nvPr/>
        </p:nvSpPr>
        <p:spPr>
          <a:xfrm>
            <a:off x="1553497" y="3287159"/>
            <a:ext cx="1109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Counters</a:t>
            </a:r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B4AA0415-E5F4-14AC-4467-826ECEDCAE62}"/>
              </a:ext>
            </a:extLst>
          </p:cNvPr>
          <p:cNvCxnSpPr/>
          <p:nvPr/>
        </p:nvCxnSpPr>
        <p:spPr>
          <a:xfrm flipH="1">
            <a:off x="2385059" y="2992015"/>
            <a:ext cx="112335" cy="29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98FA1B8-88FC-0256-6FE0-16E3B2E27F60}"/>
              </a:ext>
            </a:extLst>
          </p:cNvPr>
          <p:cNvSpPr txBox="1"/>
          <p:nvPr/>
        </p:nvSpPr>
        <p:spPr>
          <a:xfrm>
            <a:off x="7242007" y="5180925"/>
            <a:ext cx="5607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LUT</a:t>
            </a:r>
          </a:p>
          <a:p>
            <a:endParaRPr lang="it-IT" dirty="0"/>
          </a:p>
        </p:txBody>
      </p: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ECEE649A-3699-BABA-872A-121A99DC3446}"/>
              </a:ext>
            </a:extLst>
          </p:cNvPr>
          <p:cNvCxnSpPr>
            <a:cxnSpLocks/>
          </p:cNvCxnSpPr>
          <p:nvPr/>
        </p:nvCxnSpPr>
        <p:spPr>
          <a:xfrm flipH="1">
            <a:off x="5034116" y="4384069"/>
            <a:ext cx="458519" cy="759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Connettore 2 44">
            <a:extLst>
              <a:ext uri="{FF2B5EF4-FFF2-40B4-BE49-F238E27FC236}">
                <a16:creationId xmlns:a16="http://schemas.microsoft.com/office/drawing/2014/main" id="{ED8E37E1-FE8B-2B43-29E6-4F7C8C3EFC84}"/>
              </a:ext>
            </a:extLst>
          </p:cNvPr>
          <p:cNvCxnSpPr>
            <a:cxnSpLocks/>
          </p:cNvCxnSpPr>
          <p:nvPr/>
        </p:nvCxnSpPr>
        <p:spPr>
          <a:xfrm>
            <a:off x="6744684" y="4329421"/>
            <a:ext cx="777721" cy="7564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57D69AD6-9900-12B6-FF92-69B7F69FE775}"/>
              </a:ext>
            </a:extLst>
          </p:cNvPr>
          <p:cNvCxnSpPr>
            <a:cxnSpLocks/>
          </p:cNvCxnSpPr>
          <p:nvPr/>
        </p:nvCxnSpPr>
        <p:spPr>
          <a:xfrm>
            <a:off x="6153822" y="4329421"/>
            <a:ext cx="89662" cy="8515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3037EFF-C036-2D3E-630F-9D5570FC2D3D}"/>
              </a:ext>
            </a:extLst>
          </p:cNvPr>
          <p:cNvSpPr txBox="1"/>
          <p:nvPr/>
        </p:nvSpPr>
        <p:spPr>
          <a:xfrm>
            <a:off x="4058344" y="5180926"/>
            <a:ext cx="11064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Registers</a:t>
            </a:r>
            <a:endParaRPr lang="it-IT" dirty="0"/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F3CE0C5-B225-E323-8B35-BF6B84788067}"/>
              </a:ext>
            </a:extLst>
          </p:cNvPr>
          <p:cNvSpPr txBox="1"/>
          <p:nvPr/>
        </p:nvSpPr>
        <p:spPr>
          <a:xfrm>
            <a:off x="5883397" y="5203351"/>
            <a:ext cx="7855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BRam</a:t>
            </a:r>
            <a:endParaRPr lang="it-IT" dirty="0"/>
          </a:p>
          <a:p>
            <a:endParaRPr lang="it-IT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3712FC8-C00C-8E99-8679-5CF95C2FCD50}"/>
              </a:ext>
            </a:extLst>
          </p:cNvPr>
          <p:cNvSpPr/>
          <p:nvPr/>
        </p:nvSpPr>
        <p:spPr>
          <a:xfrm>
            <a:off x="5215099" y="1820450"/>
            <a:ext cx="1958879" cy="17675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IP</a:t>
            </a:r>
          </a:p>
        </p:txBody>
      </p:sp>
      <p:sp>
        <p:nvSpPr>
          <p:cNvPr id="14" name="TextBox 29">
            <a:extLst>
              <a:ext uri="{FF2B5EF4-FFF2-40B4-BE49-F238E27FC236}">
                <a16:creationId xmlns:a16="http://schemas.microsoft.com/office/drawing/2014/main" id="{B0D05F17-968F-F662-8195-53FF44099F20}"/>
              </a:ext>
            </a:extLst>
          </p:cNvPr>
          <p:cNvSpPr txBox="1"/>
          <p:nvPr/>
        </p:nvSpPr>
        <p:spPr>
          <a:xfrm>
            <a:off x="5183964" y="2300347"/>
            <a:ext cx="8400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wr_en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8">
            <a:extLst>
              <a:ext uri="{FF2B5EF4-FFF2-40B4-BE49-F238E27FC236}">
                <a16:creationId xmlns:a16="http://schemas.microsoft.com/office/drawing/2014/main" id="{2A7666D6-6081-E06B-4F1C-5117245DC413}"/>
              </a:ext>
            </a:extLst>
          </p:cNvPr>
          <p:cNvSpPr txBox="1"/>
          <p:nvPr/>
        </p:nvSpPr>
        <p:spPr>
          <a:xfrm>
            <a:off x="5401560" y="3168999"/>
            <a:ext cx="401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clk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TextBox 30">
            <a:extLst>
              <a:ext uri="{FF2B5EF4-FFF2-40B4-BE49-F238E27FC236}">
                <a16:creationId xmlns:a16="http://schemas.microsoft.com/office/drawing/2014/main" id="{C318B011-0C6D-CD1E-32CC-981AE56E5F96}"/>
              </a:ext>
            </a:extLst>
          </p:cNvPr>
          <p:cNvSpPr txBox="1"/>
          <p:nvPr/>
        </p:nvSpPr>
        <p:spPr>
          <a:xfrm>
            <a:off x="6527439" y="2182485"/>
            <a:ext cx="916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rd_en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full</a:t>
            </a: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empty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6">
            <a:extLst>
              <a:ext uri="{FF2B5EF4-FFF2-40B4-BE49-F238E27FC236}">
                <a16:creationId xmlns:a16="http://schemas.microsoft.com/office/drawing/2014/main" id="{30F7808E-EE2C-61AF-D66C-ACA5E0B4D6B5}"/>
              </a:ext>
            </a:extLst>
          </p:cNvPr>
          <p:cNvSpPr txBox="1"/>
          <p:nvPr/>
        </p:nvSpPr>
        <p:spPr>
          <a:xfrm>
            <a:off x="5212553" y="1844451"/>
            <a:ext cx="19116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FIFOwidth10_depth</a:t>
            </a:r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88D9E532-7F21-0024-0130-54C5E0ABCE30}"/>
              </a:ext>
            </a:extLst>
          </p:cNvPr>
          <p:cNvCxnSpPr>
            <a:endCxn id="17" idx="1"/>
          </p:cNvCxnSpPr>
          <p:nvPr/>
        </p:nvCxnSpPr>
        <p:spPr>
          <a:xfrm>
            <a:off x="5211299" y="3168999"/>
            <a:ext cx="190261" cy="1384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C720E1A0-DBC4-2B5F-94F5-9BB97397A8A2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2482" y="3307499"/>
            <a:ext cx="229078" cy="1609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961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B82BD-08A2-F8DD-D0E2-58E6C4FBB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473"/>
            <a:ext cx="10515600" cy="1325563"/>
          </a:xfrm>
        </p:spPr>
        <p:txBody>
          <a:bodyPr/>
          <a:lstStyle/>
          <a:p>
            <a:r>
              <a:rPr lang="it-IT" dirty="0"/>
              <a:t>FIFO BLOCK DIAGRAM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9E5BC0B-6148-3BE5-517C-27D361BE44CB}"/>
              </a:ext>
            </a:extLst>
          </p:cNvPr>
          <p:cNvSpPr/>
          <p:nvPr/>
        </p:nvSpPr>
        <p:spPr>
          <a:xfrm>
            <a:off x="3372104" y="1856987"/>
            <a:ext cx="5314066" cy="1259904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Dual port </a:t>
            </a:r>
            <a:r>
              <a:rPr lang="it-IT" dirty="0" err="1">
                <a:solidFill>
                  <a:schemeClr val="bg1"/>
                </a:solidFill>
              </a:rPr>
              <a:t>memory</a:t>
            </a:r>
            <a:r>
              <a:rPr lang="it-IT" dirty="0">
                <a:solidFill>
                  <a:schemeClr val="bg1"/>
                </a:solidFill>
              </a:rPr>
              <a:t> array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83411C-36DC-B7A4-815B-57E87322F827}"/>
              </a:ext>
            </a:extLst>
          </p:cNvPr>
          <p:cNvSpPr/>
          <p:nvPr/>
        </p:nvSpPr>
        <p:spPr>
          <a:xfrm>
            <a:off x="869165" y="1538518"/>
            <a:ext cx="1622322" cy="41791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73C0EB8-7200-756D-F425-8116DCD4234F}"/>
              </a:ext>
            </a:extLst>
          </p:cNvPr>
          <p:cNvSpPr/>
          <p:nvPr/>
        </p:nvSpPr>
        <p:spPr>
          <a:xfrm>
            <a:off x="9566787" y="1376516"/>
            <a:ext cx="1828800" cy="45031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CB3FD0D-C8AA-732C-B77D-4BE8CA9C91BA}"/>
              </a:ext>
            </a:extLst>
          </p:cNvPr>
          <p:cNvSpPr/>
          <p:nvPr/>
        </p:nvSpPr>
        <p:spPr>
          <a:xfrm>
            <a:off x="2856270" y="4109422"/>
            <a:ext cx="1622323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40C4446-2C00-8191-2F73-8720C2C1AC76}"/>
              </a:ext>
            </a:extLst>
          </p:cNvPr>
          <p:cNvSpPr/>
          <p:nvPr/>
        </p:nvSpPr>
        <p:spPr>
          <a:xfrm>
            <a:off x="5016542" y="4109420"/>
            <a:ext cx="1739680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Compare </a:t>
            </a:r>
          </a:p>
          <a:p>
            <a:pPr algn="ctr"/>
            <a:r>
              <a:rPr lang="it-IT" dirty="0" err="1"/>
              <a:t>Logic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7273DA2-758A-2BDD-7F65-F635C366F418}"/>
              </a:ext>
            </a:extLst>
          </p:cNvPr>
          <p:cNvSpPr/>
          <p:nvPr/>
        </p:nvSpPr>
        <p:spPr>
          <a:xfrm>
            <a:off x="7294171" y="4109419"/>
            <a:ext cx="1828800" cy="92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 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1DEFA6-4B83-213E-3143-3BA7E54A5383}"/>
              </a:ext>
            </a:extLst>
          </p:cNvPr>
          <p:cNvSpPr txBox="1"/>
          <p:nvPr/>
        </p:nvSpPr>
        <p:spPr>
          <a:xfrm>
            <a:off x="3400575" y="1841459"/>
            <a:ext cx="1095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5F9C2B-428F-A13C-CA95-C8E5DBDA269E}"/>
              </a:ext>
            </a:extLst>
          </p:cNvPr>
          <p:cNvSpPr txBox="1"/>
          <p:nvPr/>
        </p:nvSpPr>
        <p:spPr>
          <a:xfrm>
            <a:off x="3372104" y="2778337"/>
            <a:ext cx="1421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E8056DF-4DDB-904A-525E-0B78EECDF9AF}"/>
              </a:ext>
            </a:extLst>
          </p:cNvPr>
          <p:cNvSpPr txBox="1"/>
          <p:nvPr/>
        </p:nvSpPr>
        <p:spPr>
          <a:xfrm>
            <a:off x="7562591" y="1798653"/>
            <a:ext cx="107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data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AD5C9C-40D4-1A9B-FBBB-25F4B5BDFE51}"/>
              </a:ext>
            </a:extLst>
          </p:cNvPr>
          <p:cNvSpPr txBox="1"/>
          <p:nvPr/>
        </p:nvSpPr>
        <p:spPr>
          <a:xfrm>
            <a:off x="7294171" y="2793865"/>
            <a:ext cx="1406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FCD85589-3E5E-2284-B056-AC48E36C45A6}"/>
              </a:ext>
            </a:extLst>
          </p:cNvPr>
          <p:cNvCxnSpPr/>
          <p:nvPr/>
        </p:nvCxnSpPr>
        <p:spPr>
          <a:xfrm>
            <a:off x="166788" y="4147705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42430B-C733-A297-56E9-DFCD2F633137}"/>
              </a:ext>
            </a:extLst>
          </p:cNvPr>
          <p:cNvSpPr txBox="1"/>
          <p:nvPr/>
        </p:nvSpPr>
        <p:spPr>
          <a:xfrm>
            <a:off x="94025" y="1989713"/>
            <a:ext cx="762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/>
              <a:t>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7060FA-B929-3B95-E174-E330ED2C7A7C}"/>
              </a:ext>
            </a:extLst>
          </p:cNvPr>
          <p:cNvSpPr txBox="1"/>
          <p:nvPr/>
        </p:nvSpPr>
        <p:spPr>
          <a:xfrm>
            <a:off x="77430" y="3807494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DFF69EFF-1FB0-50EB-6889-7FD91CA601C4}"/>
              </a:ext>
            </a:extLst>
          </p:cNvPr>
          <p:cNvCxnSpPr/>
          <p:nvPr/>
        </p:nvCxnSpPr>
        <p:spPr>
          <a:xfrm>
            <a:off x="183798" y="2312879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2E5F8392-37F4-270D-FB82-578B8E94E0B2}"/>
              </a:ext>
            </a:extLst>
          </p:cNvPr>
          <p:cNvCxnSpPr/>
          <p:nvPr/>
        </p:nvCxnSpPr>
        <p:spPr>
          <a:xfrm flipH="1">
            <a:off x="294968" y="5112774"/>
            <a:ext cx="543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4FC21BE-2061-0EB0-4DA8-2721046DE424}"/>
              </a:ext>
            </a:extLst>
          </p:cNvPr>
          <p:cNvSpPr txBox="1"/>
          <p:nvPr/>
        </p:nvSpPr>
        <p:spPr>
          <a:xfrm>
            <a:off x="272479" y="5112774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2182D66-C6B9-5DC4-A6C9-12F7D95F158B}"/>
              </a:ext>
            </a:extLst>
          </p:cNvPr>
          <p:cNvCxnSpPr/>
          <p:nvPr/>
        </p:nvCxnSpPr>
        <p:spPr>
          <a:xfrm>
            <a:off x="5565058" y="5034114"/>
            <a:ext cx="0" cy="447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9903BF5-EA78-A189-5A8F-1DA038FEEF70}"/>
              </a:ext>
            </a:extLst>
          </p:cNvPr>
          <p:cNvCxnSpPr/>
          <p:nvPr/>
        </p:nvCxnSpPr>
        <p:spPr>
          <a:xfrm flipH="1">
            <a:off x="2491487" y="5482106"/>
            <a:ext cx="307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C1431B93-D961-86D1-C61B-EB4290B5882B}"/>
              </a:ext>
            </a:extLst>
          </p:cNvPr>
          <p:cNvCxnSpPr>
            <a:cxnSpLocks/>
          </p:cNvCxnSpPr>
          <p:nvPr/>
        </p:nvCxnSpPr>
        <p:spPr>
          <a:xfrm>
            <a:off x="6470982" y="5492560"/>
            <a:ext cx="30529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8367A571-E62D-F3FB-FF3B-60961A78A145}"/>
              </a:ext>
            </a:extLst>
          </p:cNvPr>
          <p:cNvCxnSpPr>
            <a:cxnSpLocks/>
          </p:cNvCxnSpPr>
          <p:nvPr/>
        </p:nvCxnSpPr>
        <p:spPr>
          <a:xfrm flipV="1">
            <a:off x="6470982" y="5034114"/>
            <a:ext cx="0" cy="458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9F136BE-F7AF-B19E-501A-7DC275467C1F}"/>
              </a:ext>
            </a:extLst>
          </p:cNvPr>
          <p:cNvSpPr txBox="1"/>
          <p:nvPr/>
        </p:nvSpPr>
        <p:spPr>
          <a:xfrm>
            <a:off x="4106933" y="5138206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68A3E02-5E11-0B40-E6D5-60902BD352E6}"/>
              </a:ext>
            </a:extLst>
          </p:cNvPr>
          <p:cNvSpPr txBox="1"/>
          <p:nvPr/>
        </p:nvSpPr>
        <p:spPr>
          <a:xfrm>
            <a:off x="6985732" y="513820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FAA432B5-1A93-DB54-4D61-6319F63762A1}"/>
              </a:ext>
            </a:extLst>
          </p:cNvPr>
          <p:cNvCxnSpPr>
            <a:endCxn id="9" idx="1"/>
          </p:cNvCxnSpPr>
          <p:nvPr/>
        </p:nvCxnSpPr>
        <p:spPr>
          <a:xfrm>
            <a:off x="2491487" y="4571766"/>
            <a:ext cx="364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EE9E7D31-D1A7-D246-5B49-4418D9DD801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478593" y="4571767"/>
            <a:ext cx="53794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D33A79C9-E255-664B-F3AE-46880D0FD31C}"/>
              </a:ext>
            </a:extLst>
          </p:cNvPr>
          <p:cNvCxnSpPr>
            <a:endCxn id="11" idx="3"/>
          </p:cNvCxnSpPr>
          <p:nvPr/>
        </p:nvCxnSpPr>
        <p:spPr>
          <a:xfrm flipH="1">
            <a:off x="9122971" y="4571766"/>
            <a:ext cx="400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1E2E7EF-F113-C784-5A5F-62DB2F3522CD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756222" y="4571767"/>
            <a:ext cx="5379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04682C3D-E984-A022-5D0A-7671767CAE1E}"/>
              </a:ext>
            </a:extLst>
          </p:cNvPr>
          <p:cNvCxnSpPr>
            <a:stCxn id="11" idx="0"/>
          </p:cNvCxnSpPr>
          <p:nvPr/>
        </p:nvCxnSpPr>
        <p:spPr>
          <a:xfrm flipV="1">
            <a:off x="8208571" y="3132419"/>
            <a:ext cx="0" cy="97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A470CEA-2051-4C37-B055-21286D8B09C0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667431" y="3116891"/>
            <a:ext cx="1" cy="992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FEE83A60-E686-FDBC-F9E6-879041E75558}"/>
              </a:ext>
            </a:extLst>
          </p:cNvPr>
          <p:cNvCxnSpPr>
            <a:cxnSpLocks/>
          </p:cNvCxnSpPr>
          <p:nvPr/>
        </p:nvCxnSpPr>
        <p:spPr>
          <a:xfrm>
            <a:off x="2491487" y="2010736"/>
            <a:ext cx="880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F32D7516-8516-C448-9ED9-60A5FABC114C}"/>
              </a:ext>
            </a:extLst>
          </p:cNvPr>
          <p:cNvCxnSpPr>
            <a:stCxn id="14" idx="3"/>
          </p:cNvCxnSpPr>
          <p:nvPr/>
        </p:nvCxnSpPr>
        <p:spPr>
          <a:xfrm>
            <a:off x="8642310" y="1967930"/>
            <a:ext cx="92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265773F-A842-FFBF-CF72-A3065E9F0471}"/>
              </a:ext>
            </a:extLst>
          </p:cNvPr>
          <p:cNvCxnSpPr/>
          <p:nvPr/>
        </p:nvCxnSpPr>
        <p:spPr>
          <a:xfrm>
            <a:off x="11395587" y="2137207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E8AFF7-60E8-7768-3511-F6E83A201D69}"/>
              </a:ext>
            </a:extLst>
          </p:cNvPr>
          <p:cNvCxnSpPr/>
          <p:nvPr/>
        </p:nvCxnSpPr>
        <p:spPr>
          <a:xfrm flipH="1">
            <a:off x="11395587" y="3923071"/>
            <a:ext cx="481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F90B61F2-6BFA-D5CD-A0AF-6CD2F6E02810}"/>
              </a:ext>
            </a:extLst>
          </p:cNvPr>
          <p:cNvCxnSpPr/>
          <p:nvPr/>
        </p:nvCxnSpPr>
        <p:spPr>
          <a:xfrm>
            <a:off x="11395587" y="5482106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C4D42B2A-03FF-127C-3AE7-E450DA8F89D8}"/>
              </a:ext>
            </a:extLst>
          </p:cNvPr>
          <p:cNvSpPr txBox="1"/>
          <p:nvPr/>
        </p:nvSpPr>
        <p:spPr>
          <a:xfrm>
            <a:off x="11438476" y="1814041"/>
            <a:ext cx="699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/>
              <a:t>data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FDBD1C20-E673-D303-A76C-90D17D901A89}"/>
              </a:ext>
            </a:extLst>
          </p:cNvPr>
          <p:cNvSpPr txBox="1"/>
          <p:nvPr/>
        </p:nvSpPr>
        <p:spPr>
          <a:xfrm>
            <a:off x="11354318" y="3609415"/>
            <a:ext cx="867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E1DB4B0C-02BE-B360-DA3D-2CD57D589B02}"/>
              </a:ext>
            </a:extLst>
          </p:cNvPr>
          <p:cNvSpPr txBox="1"/>
          <p:nvPr/>
        </p:nvSpPr>
        <p:spPr>
          <a:xfrm>
            <a:off x="11379655" y="503411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6690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09DF52-2D9F-59CD-EB07-A3E051356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568" y="4903121"/>
            <a:ext cx="9426678" cy="661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decouples event processing times from acquisition times</a:t>
            </a:r>
            <a:endParaRPr lang="it-IT" sz="20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A54C0E4-AB47-35A8-1919-2F1123CC05DD}"/>
              </a:ext>
            </a:extLst>
          </p:cNvPr>
          <p:cNvSpPr/>
          <p:nvPr/>
        </p:nvSpPr>
        <p:spPr>
          <a:xfrm>
            <a:off x="1976284" y="3057832"/>
            <a:ext cx="2428568" cy="11503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Sensor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B56F626-590F-6999-E26E-D3B4FE4E6FE6}"/>
              </a:ext>
            </a:extLst>
          </p:cNvPr>
          <p:cNvSpPr/>
          <p:nvPr/>
        </p:nvSpPr>
        <p:spPr>
          <a:xfrm>
            <a:off x="5358581" y="3342968"/>
            <a:ext cx="1976284" cy="661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FIFO</a:t>
            </a:r>
          </a:p>
        </p:txBody>
      </p:sp>
      <p:sp>
        <p:nvSpPr>
          <p:cNvPr id="6" name="Bolla: nuvola 5">
            <a:extLst>
              <a:ext uri="{FF2B5EF4-FFF2-40B4-BE49-F238E27FC236}">
                <a16:creationId xmlns:a16="http://schemas.microsoft.com/office/drawing/2014/main" id="{CB077203-1FFB-5428-9D30-2296EC016BFE}"/>
              </a:ext>
            </a:extLst>
          </p:cNvPr>
          <p:cNvSpPr/>
          <p:nvPr/>
        </p:nvSpPr>
        <p:spPr>
          <a:xfrm>
            <a:off x="8445910" y="2907020"/>
            <a:ext cx="2871020" cy="1533832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DAQ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760A1E8-1AEE-A2BA-F0FD-D99437980B3B}"/>
              </a:ext>
            </a:extLst>
          </p:cNvPr>
          <p:cNvCxnSpPr/>
          <p:nvPr/>
        </p:nvCxnSpPr>
        <p:spPr>
          <a:xfrm>
            <a:off x="7551174" y="3673936"/>
            <a:ext cx="707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BBA34C0D-39DF-5321-0C3D-E68393B1CAD5}"/>
              </a:ext>
            </a:extLst>
          </p:cNvPr>
          <p:cNvCxnSpPr/>
          <p:nvPr/>
        </p:nvCxnSpPr>
        <p:spPr>
          <a:xfrm>
            <a:off x="4591665" y="3633019"/>
            <a:ext cx="6194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C0127EA4-D266-5347-0CFC-19CCD78AE600}"/>
              </a:ext>
            </a:extLst>
          </p:cNvPr>
          <p:cNvCxnSpPr/>
          <p:nvPr/>
        </p:nvCxnSpPr>
        <p:spPr>
          <a:xfrm>
            <a:off x="6346723" y="4208206"/>
            <a:ext cx="0" cy="540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FD7F477-5599-5C3F-F87C-DCD50DA33F73}"/>
              </a:ext>
            </a:extLst>
          </p:cNvPr>
          <p:cNvSpPr txBox="1"/>
          <p:nvPr/>
        </p:nvSpPr>
        <p:spPr>
          <a:xfrm>
            <a:off x="3048000" y="9236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-FIFO EMPTY                  </a:t>
            </a:r>
            <a:r>
              <a:rPr lang="it-IT" dirty="0" err="1"/>
              <a:t>wrPtr</a:t>
            </a:r>
            <a:r>
              <a:rPr lang="it-IT" dirty="0"/>
              <a:t> = </a:t>
            </a:r>
            <a:r>
              <a:rPr lang="it-IT" dirty="0" err="1"/>
              <a:t>RdPtr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E4913F4-84B5-E948-7EFC-EBFCE4C34758}"/>
              </a:ext>
            </a:extLst>
          </p:cNvPr>
          <p:cNvSpPr txBox="1"/>
          <p:nvPr/>
        </p:nvSpPr>
        <p:spPr>
          <a:xfrm>
            <a:off x="3115268" y="1455734"/>
            <a:ext cx="1289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-FIFO FULL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021B5E0A-273F-6B05-8D8D-EADCA8EB6ED3}"/>
              </a:ext>
            </a:extLst>
          </p:cNvPr>
          <p:cNvCxnSpPr>
            <a:cxnSpLocks/>
          </p:cNvCxnSpPr>
          <p:nvPr/>
        </p:nvCxnSpPr>
        <p:spPr>
          <a:xfrm flipV="1">
            <a:off x="6840070" y="1554300"/>
            <a:ext cx="231738" cy="19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D01AE63-BA5A-EBC6-51ED-28EB0C9C84BD}"/>
              </a:ext>
            </a:extLst>
          </p:cNvPr>
          <p:cNvCxnSpPr>
            <a:cxnSpLocks/>
          </p:cNvCxnSpPr>
          <p:nvPr/>
        </p:nvCxnSpPr>
        <p:spPr>
          <a:xfrm>
            <a:off x="6840070" y="1825859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3CCE25F-6E86-DDF4-A215-C1EC08260F2A}"/>
              </a:ext>
            </a:extLst>
          </p:cNvPr>
          <p:cNvSpPr txBox="1"/>
          <p:nvPr/>
        </p:nvSpPr>
        <p:spPr>
          <a:xfrm>
            <a:off x="5211097" y="1409135"/>
            <a:ext cx="1575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happen</a:t>
            </a:r>
            <a:endParaRPr lang="it-IT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E4AAEC09-8BC8-1043-DDD9-499EDC76512B}"/>
              </a:ext>
            </a:extLst>
          </p:cNvPr>
          <p:cNvCxnSpPr/>
          <p:nvPr/>
        </p:nvCxnSpPr>
        <p:spPr>
          <a:xfrm>
            <a:off x="4585155" y="1715509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6ADBF5-1B09-05F3-2ACD-936BA6AEB092}"/>
              </a:ext>
            </a:extLst>
          </p:cNvPr>
          <p:cNvSpPr txBox="1"/>
          <p:nvPr/>
        </p:nvSpPr>
        <p:spPr>
          <a:xfrm>
            <a:off x="7179403" y="1358593"/>
            <a:ext cx="2989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slow data processing speed 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6FDB645-1972-402C-7C86-AFB3447CB310}"/>
              </a:ext>
            </a:extLst>
          </p:cNvPr>
          <p:cNvSpPr txBox="1"/>
          <p:nvPr/>
        </p:nvSpPr>
        <p:spPr>
          <a:xfrm>
            <a:off x="7179403" y="1825859"/>
            <a:ext cx="30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incorrect sizing of depth FIFO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2E7BEA-3E84-1F95-98E4-0476647F6A23}"/>
              </a:ext>
            </a:extLst>
          </p:cNvPr>
          <p:cNvSpPr txBox="1"/>
          <p:nvPr/>
        </p:nvSpPr>
        <p:spPr>
          <a:xfrm>
            <a:off x="4786716" y="2228187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FREEZE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C05D9E2-38D6-AE97-DB27-841E21047094}"/>
              </a:ext>
            </a:extLst>
          </p:cNvPr>
          <p:cNvSpPr txBox="1"/>
          <p:nvPr/>
        </p:nvSpPr>
        <p:spPr>
          <a:xfrm>
            <a:off x="5902605" y="2235119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CIRCULAR BUFFER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4AADA8E7-0AEF-4E44-2154-46EDDAF5E214}"/>
              </a:ext>
            </a:extLst>
          </p:cNvPr>
          <p:cNvCxnSpPr>
            <a:cxnSpLocks/>
          </p:cNvCxnSpPr>
          <p:nvPr/>
        </p:nvCxnSpPr>
        <p:spPr>
          <a:xfrm>
            <a:off x="6254189" y="1889837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D2CD553-8D75-6BD8-C5E9-55AB27DB7FE2}"/>
              </a:ext>
            </a:extLst>
          </p:cNvPr>
          <p:cNvCxnSpPr>
            <a:cxnSpLocks/>
          </p:cNvCxnSpPr>
          <p:nvPr/>
        </p:nvCxnSpPr>
        <p:spPr>
          <a:xfrm flipH="1">
            <a:off x="5261365" y="1899634"/>
            <a:ext cx="173336" cy="23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639961C0-3E44-6833-44ED-AE4D9051F766}"/>
              </a:ext>
            </a:extLst>
          </p:cNvPr>
          <p:cNvCxnSpPr/>
          <p:nvPr/>
        </p:nvCxnSpPr>
        <p:spPr>
          <a:xfrm>
            <a:off x="4591665" y="1130490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750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0D902-C3B3-8A45-572A-9FF61426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depth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34A624-DCB0-11BB-80B4-EFA5A427A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choice of depth is a compromise between:</a:t>
            </a:r>
          </a:p>
          <a:p>
            <a:r>
              <a:rPr lang="en-US" sz="2000" dirty="0"/>
              <a:t>Maximum clock frequency</a:t>
            </a:r>
          </a:p>
          <a:p>
            <a:r>
              <a:rPr lang="en-US" sz="2000" dirty="0"/>
              <a:t>Expected average event frequency</a:t>
            </a:r>
          </a:p>
          <a:p>
            <a:r>
              <a:rPr lang="en-US" sz="2000" dirty="0"/>
              <a:t>Power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1329315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255</Words>
  <Application>Microsoft Office PowerPoint</Application>
  <PresentationFormat>Widescreen</PresentationFormat>
  <Paragraphs>119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Helvetica</vt:lpstr>
      <vt:lpstr>Office Theme</vt:lpstr>
      <vt:lpstr>ADC Characterization</vt:lpstr>
      <vt:lpstr>Project flowchart</vt:lpstr>
      <vt:lpstr>Presentazione standard di PowerPoint</vt:lpstr>
      <vt:lpstr>FIFO</vt:lpstr>
      <vt:lpstr>FIFO BLOCK DIAGRAM</vt:lpstr>
      <vt:lpstr>Presentazione standard di PowerPoint</vt:lpstr>
      <vt:lpstr>Choice of depth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Maria Cristina Ragusa</cp:lastModifiedBy>
  <cp:revision>15</cp:revision>
  <dcterms:created xsi:type="dcterms:W3CDTF">2026-01-30T15:22:33Z</dcterms:created>
  <dcterms:modified xsi:type="dcterms:W3CDTF">2026-02-01T19:29:34Z</dcterms:modified>
</cp:coreProperties>
</file>